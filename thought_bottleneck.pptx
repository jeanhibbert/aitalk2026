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4" r:id="rId7"/>
    <p:sldId id="259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4712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 dirty="0">
                <a:solidFill>
                  <a:srgbClr val="FFFFFF"/>
                </a:solidFill>
              </a:rPr>
              <a:t>The </a:t>
            </a:r>
            <a:r>
              <a:rPr lang="en-US" sz="6000" b="1" i="0" dirty="0">
                <a:solidFill>
                  <a:srgbClr val="FFFFFF"/>
                </a:solidFill>
              </a:rPr>
              <a:t>Thought</a:t>
            </a:r>
            <a:r>
              <a:rPr sz="6000" b="1" i="0" dirty="0">
                <a:solidFill>
                  <a:srgbClr val="FFFFFF"/>
                </a:solidFill>
              </a:rPr>
              <a:t> Bottleneck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108960"/>
            <a:ext cx="112471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 dirty="0">
                <a:solidFill>
                  <a:srgbClr val="00B4D8"/>
                </a:solidFill>
              </a:rPr>
              <a:t>From search tool to agentic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0C4DE"/>
                </a:solidFill>
              </a:rPr>
              <a:t>Jean Hibbert  · 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Early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6888" y="9144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Late 2025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" y="1353312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15087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AI as a search tool — precise, instant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1837943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Summarisation at 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" y="2167127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Structured data extraction from unstructured 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2496311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Content generation — from blog posts to maths problems for the kids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" y="2825495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Code generation — first taste of LLM-assisted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" y="3154679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Rolled out Grok across the family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" y="3483863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4D03F"/>
                </a:solidFill>
              </a:rPr>
              <a:t>•  Learning accelerator: AI as a personal tutor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Expanding the Toolkit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6888" y="9144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Early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" y="1353312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15087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Systematic evaluation across providers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37943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Microsoft — GitHub Copilot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Google —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404872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Anthropic — 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688336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OpenAI — Codex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" y="2971800"/>
            <a:ext cx="11430000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FFFFFF"/>
                </a:solidFill>
              </a:rPr>
              <a:t>•  Discovered Claude Opus: long-running tasks, </a:t>
            </a:r>
            <a:r>
              <a:rPr lang="en-US" sz="1900" b="1" i="0" dirty="0">
                <a:solidFill>
                  <a:srgbClr val="FFFFFF"/>
                </a:solidFill>
              </a:rPr>
              <a:t>acceptable quality</a:t>
            </a:r>
            <a:r>
              <a:rPr sz="1900" b="1" i="0" dirty="0">
                <a:solidFill>
                  <a:srgbClr val="FFFFFF"/>
                </a:solidFill>
              </a:rPr>
              <a:t> code</a:t>
            </a:r>
            <a:endParaRPr lang="en-US" sz="1900" b="1" i="0" dirty="0">
              <a:solidFill>
                <a:srgbClr val="FFFFFF"/>
              </a:solidFill>
            </a:endParaRPr>
          </a:p>
          <a:p>
            <a:pPr algn="l"/>
            <a:endParaRPr sz="1900" b="1" i="0" dirty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6888" y="3300984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 dirty="0">
                <a:solidFill>
                  <a:srgbClr val="F4D03F"/>
                </a:solidFill>
              </a:rPr>
              <a:t>•  Discovered </a:t>
            </a:r>
            <a:r>
              <a:rPr sz="1900" b="1" i="0" dirty="0" err="1">
                <a:solidFill>
                  <a:srgbClr val="F4D03F"/>
                </a:solidFill>
              </a:rPr>
              <a:t>OpenClaw</a:t>
            </a:r>
            <a:r>
              <a:rPr sz="1900" b="1" i="0" dirty="0">
                <a:solidFill>
                  <a:srgbClr val="F4D03F"/>
                </a:solidFill>
              </a:rPr>
              <a:t> — deployed to Azure VM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The AI Landscape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46888" y="1463040"/>
            <a:ext cx="5577840" cy="438912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20040" y="32918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B0C4DE"/>
                </a:solidFill>
              </a:rPr>
              <a:t>[ AI Provider Mind Map 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50876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Model Provider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087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Aggregators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92024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B0C4DE"/>
                </a:solidFill>
              </a:rPr>
              <a:t>Access models from many providers via a single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TogetherAI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OpenRouter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2369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Azure OpenAI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62102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</a:rPr>
              <a:t>▸  Amazon Bedrock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41605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4D03F"/>
                </a:solidFill>
              </a:rPr>
              <a:t>⚠  Licensing Minefield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66344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Commercial vs research licences vary widely
across providers and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 dirty="0">
                <a:solidFill>
                  <a:srgbClr val="00B4D8"/>
                </a:solidFill>
              </a:rPr>
              <a:t>LLM-Enhanced AIOps Event Correlation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" y="146304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Agentic architecture: correlating events across distributed systems using LLMs +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" y="2011680"/>
            <a:ext cx="11704320" cy="438912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2148840"/>
            <a:ext cx="5197257" cy="36471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dirty="0">
                <a:solidFill>
                  <a:srgbClr val="A8FFE0"/>
                </a:solidFill>
                <a:latin typeface="Courier New"/>
              </a:rPr>
              <a:t>  System A ──────────┐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System B ──── [Message Broker / </a:t>
            </a:r>
            <a:r>
              <a:rPr lang="en-US" sz="1100" dirty="0" err="1">
                <a:solidFill>
                  <a:srgbClr val="A8FFE0"/>
                </a:solidFill>
                <a:latin typeface="Courier New"/>
              </a:rPr>
              <a:t>NServiceBus</a:t>
            </a:r>
            <a:r>
              <a:rPr sz="1100" dirty="0">
                <a:solidFill>
                  <a:srgbClr val="A8FFE0"/>
                </a:solidFill>
                <a:latin typeface="Courier New"/>
              </a:rPr>
              <a:t> / Event Hubs]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[Stream Processor / Flink / Stream Analytics]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(</a:t>
            </a:r>
            <a:r>
              <a:rPr sz="1100" dirty="0" err="1">
                <a:solidFill>
                  <a:srgbClr val="A8FFE0"/>
                </a:solidFill>
                <a:latin typeface="Courier New"/>
              </a:rPr>
              <a:t>normalise</a:t>
            </a:r>
            <a:r>
              <a:rPr sz="1100" dirty="0">
                <a:solidFill>
                  <a:srgbClr val="A8FFE0"/>
                </a:solidFill>
                <a:latin typeface="Courier New"/>
              </a:rPr>
              <a:t> · deduplicate · window · pre-filter)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┌────────┴────────┐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▼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[Time-Series DB]    [Vector DB]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(raw storage)   (embeddings + RAG)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│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└────────┬────────┘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[LLM Correlation Engine]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(windowed prompt + RAG context injection)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           │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┌──────────┼──────────┐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   ▼          ▼          ▼</a:t>
            </a:r>
          </a:p>
          <a:p>
            <a:r>
              <a:rPr sz="1100" dirty="0">
                <a:solidFill>
                  <a:srgbClr val="A8FFE0"/>
                </a:solidFill>
                <a:latin typeface="Courier New"/>
              </a:rPr>
              <a:t>       [Alerts]  [Dashboard]  [API / DB]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7C67D0-0446-BFAA-5BD7-45E9C9616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6034543-1ADA-7E4E-7580-B04C03DF8315}"/>
              </a:ext>
            </a:extLst>
          </p:cNvPr>
          <p:cNvSpPr txBox="1"/>
          <p:nvPr/>
        </p:nvSpPr>
        <p:spPr>
          <a:xfrm>
            <a:off x="246888" y="164592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00B4D8"/>
                </a:solidFill>
              </a:rPr>
              <a:t>Why Vector Database?</a:t>
            </a:r>
            <a:endParaRPr sz="3600" b="1" i="0" dirty="0">
              <a:solidFill>
                <a:srgbClr val="00B4D8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B58A06A-011E-9AD6-E20A-324136A8A8F0}"/>
              </a:ext>
            </a:extLst>
          </p:cNvPr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3157A4-45C6-5C09-D759-99EFFE8AEC89}"/>
              </a:ext>
            </a:extLst>
          </p:cNvPr>
          <p:cNvSpPr txBox="1"/>
          <p:nvPr/>
        </p:nvSpPr>
        <p:spPr>
          <a:xfrm>
            <a:off x="246888" y="146304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 dirty="0">
                <a:solidFill>
                  <a:srgbClr val="B0C4DE"/>
                </a:solidFill>
              </a:rPr>
              <a:t>Agentic architecture: correlating events across distributed systems using LLMs + RAG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314078-8F19-5788-8365-073D07064890}"/>
              </a:ext>
            </a:extLst>
          </p:cNvPr>
          <p:cNvSpPr/>
          <p:nvPr/>
        </p:nvSpPr>
        <p:spPr>
          <a:xfrm>
            <a:off x="246888" y="1984248"/>
            <a:ext cx="11704320" cy="3300984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What a Vector Database Actually Does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 vector database stores embeddings — dense numerical representations of meaning. When you embed an event batch like: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"</a:t>
            </a:r>
            <a:r>
              <a:rPr lang="en-US" dirty="0" err="1"/>
              <a:t>SystemA</a:t>
            </a:r>
            <a:r>
              <a:rPr lang="en-US" dirty="0"/>
              <a:t>: database connection pool exhausted, 47 timeout errors. </a:t>
            </a:r>
            <a:r>
              <a:rPr lang="en-US" dirty="0" err="1"/>
              <a:t>SystemB</a:t>
            </a:r>
            <a:r>
              <a:rPr lang="en-US" dirty="0"/>
              <a:t>: API gateway 503s, response times &gt;8s"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...it becomes a point in high-dimensional space.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Events with similar meaning cluster near each other in that space, regardless of the exact words used.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 when a new event batch arrives, you embed it and ask: "what historical event batches are geometrically closest to this one?" — and you get back the most semantically relevant past episodes, even if they used different error codes, different systems, or happened months ago.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479374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3600" b="1" i="0" dirty="0">
                <a:solidFill>
                  <a:srgbClr val="00B4D8"/>
                </a:solidFill>
              </a:rPr>
              <a:t>Exploration in</a:t>
            </a:r>
            <a:r>
              <a:rPr sz="3600" b="1" i="0" dirty="0">
                <a:solidFill>
                  <a:srgbClr val="00B4D8"/>
                </a:solidFill>
              </a:rPr>
              <a:t> the Deep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6888" y="914400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April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246888" y="1353312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46888" y="1508760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Analysis paralysis — too many tools, too many choices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37943"/>
            <a:ext cx="110185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 dirty="0">
                <a:solidFill>
                  <a:srgbClr val="B0C4DE"/>
                </a:solidFill>
              </a:rPr>
              <a:t>–  Hermes, Perplexity, </a:t>
            </a:r>
            <a:r>
              <a:rPr sz="1600" b="0" i="0" dirty="0" err="1">
                <a:solidFill>
                  <a:srgbClr val="B0C4DE"/>
                </a:solidFill>
              </a:rPr>
              <a:t>PaperClip</a:t>
            </a:r>
            <a:r>
              <a:rPr sz="1600" b="0" i="0" dirty="0">
                <a:solidFill>
                  <a:srgbClr val="B0C4DE"/>
                </a:solidFill>
              </a:rPr>
              <a:t>, Obsidian vault</a:t>
            </a:r>
            <a:r>
              <a:rPr lang="en-US" sz="1600" b="0" i="0" dirty="0">
                <a:solidFill>
                  <a:srgbClr val="B0C4DE"/>
                </a:solidFill>
              </a:rPr>
              <a:t>, Lance Db</a:t>
            </a:r>
            <a:endParaRPr sz="1600" b="0" i="0" dirty="0">
              <a:solidFill>
                <a:srgbClr val="B0C4DE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58368" y="2121408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Agentic architectures — orchestrator / advisor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2404872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•  Real-world OpenClaw experimentation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734056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0C4DE"/>
                </a:solidFill>
              </a:rPr>
              <a:t>–  Moving beyond demos to genuine productivity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017520"/>
            <a:ext cx="11018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4D03F"/>
                </a:solidFill>
              </a:rPr>
              <a:t>–  Hermes agent: auto-fixing OpenClaw upgrade breakages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OpenClaw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" y="1463040"/>
            <a:ext cx="11704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B0C4DE"/>
                </a:solidFill>
              </a:rPr>
              <a:t>OpenClaw is a self-hosted AI gateway and agent platform — connecting LLMs to your life, your tools, and your data without sending everything to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246888" y="2423160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24688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🔌  Multi-provider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Anthropic, OpenAI, Google, xAI, Mistral…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423160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33672" y="24688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🧠  Long-term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33672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Semantic search across sessions + Obsidian vault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2423160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19872" y="24688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📱  Any channel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19872" y="288036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WhatsApp, Telegram, Discord, Signal…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" y="3749039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40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🤖  Agentic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206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Scheduled tasks, tools, sub-agents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60520" y="3749039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33672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🔒  Self-hosted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33672" y="4206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Your data stays on your infrastructure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749039"/>
            <a:ext cx="3657600" cy="1097280"/>
          </a:xfrm>
          <a:prstGeom prst="rect">
            <a:avLst/>
          </a:prstGeom>
          <a:solidFill>
            <a:srgbClr val="060F1A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19872" y="3794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🛠  Extensible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4206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0C4DE"/>
                </a:solidFill>
              </a:rPr>
              <a:t>Plugin architecture, custom skills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" y="6263640"/>
            <a:ext cx="1170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4D03F"/>
                </a:solidFill>
              </a:rPr>
              <a:t>The power of OpenClaw: your AI, your rules, your infrastructure.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6888" y="164592"/>
            <a:ext cx="11704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B4D8"/>
                </a:solidFill>
              </a:rPr>
              <a:t>Getting Started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246888" y="1325880"/>
            <a:ext cx="117043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46888" y="1463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OpenClaw on Docker · Azure VM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" y="20116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1.  Provision Ubuntu 22.04 VM on Azure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6888" y="241401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2.  Install Docker + Docker Compose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" y="281635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3.  Pull the OpenClaw Docker image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" y="321868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4.  Configure openclaw.json
     (model keys, channels, workspace)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" y="36210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5.  docker compose up -d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" y="40233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6.  Connect WhatsApp / Telegram channel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146304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</a:rPr>
              <a:t>Hermes — Self-Healing Upgrades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01168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1.  Install Hermes via OpenClaw plugin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14016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2.  Configure as an advisor/orchestrator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281635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3.  Set upgrade watch on OpenClaw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18688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4.  Hermes detects breaking changes post-upgrade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621024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5.  Auto-generates and applies fixes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02336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0C4DE"/>
                </a:solidFill>
              </a:rPr>
              <a:t>6.  Reports back with change summary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1417320"/>
            <a:ext cx="27432" cy="47548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713</Words>
  <Application>Microsoft Office PowerPoint</Application>
  <PresentationFormat>Widescreen</PresentationFormat>
  <Paragraphs>103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Jean Hibbert</cp:lastModifiedBy>
  <cp:revision>3</cp:revision>
  <dcterms:created xsi:type="dcterms:W3CDTF">2013-01-27T09:14:16Z</dcterms:created>
  <dcterms:modified xsi:type="dcterms:W3CDTF">2026-05-04T12:04:59Z</dcterms:modified>
  <cp:category/>
</cp:coreProperties>
</file>