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097280"/>
            <a:ext cx="2011680" cy="54864"/>
          </a:xfrm>
          <a:prstGeom prst="rect">
            <a:avLst/>
          </a:prstGeom>
          <a:solidFill>
            <a:srgbClr val="00C9FF">
              <a:alpha val="60000"/>
            </a:srgbClr>
          </a:solidFill>
          <a:ln w="12700">
            <a:solidFill>
              <a:srgbClr val="00C9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371600"/>
            <a:ext cx="1554480" cy="54864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7B61F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645920"/>
            <a:ext cx="1737360" cy="54864"/>
          </a:xfrm>
          <a:prstGeom prst="rect">
            <a:avLst/>
          </a:prstGeom>
          <a:solidFill>
            <a:srgbClr val="00C9FF">
              <a:alpha val="50000"/>
            </a:srgbClr>
          </a:solidFill>
          <a:ln w="12700">
            <a:solidFill>
              <a:srgbClr val="00C9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7B61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is believing (or is it?)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4114800" cy="36576"/>
          </a:xfrm>
          <a:prstGeom prst="rect">
            <a:avLst/>
          </a:prstGeom>
          <a:solidFill>
            <a:srgbClr val="7A9AB8"/>
          </a:solidFill>
          <a:ln w="12700">
            <a:solidFill>
              <a:srgbClr val="7A9A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 •  Director of R&amp;D IT (Data, Analytics &amp; AI)  •  April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AstraZeneca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Days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0" y="182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5303520" cy="658368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68680"/>
            <a:ext cx="73152" cy="658368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905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1795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using ChatGPT purely as a search replacement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5303520" cy="658368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45920"/>
            <a:ext cx="73152" cy="658368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6824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Summarization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1956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summarizing documents, articles and long content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5303520" cy="658368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23160"/>
            <a:ext cx="73152" cy="658368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4597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Content Generation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734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content generation — including maths homework for the kids!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5303520" cy="658368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00400"/>
            <a:ext cx="73152" cy="658368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2369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Code Generation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3511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GenAI capabilities for software development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5303520" cy="658368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77640"/>
            <a:ext cx="73152" cy="658368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142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👨‍👩‍👧‍👦  Family Access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4288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the whole family had access to Grok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9320" y="914400"/>
            <a:ext cx="2834640" cy="3474720"/>
          </a:xfrm>
          <a:prstGeom prst="rect">
            <a:avLst/>
          </a:prstGeom>
          <a:solidFill>
            <a:srgbClr val="16263A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89320" y="9601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💡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608076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Lightbulb Moment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228600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Realising the immense learning power now unlocked through AI — this wasn't just a tool, it was a paradigm shift.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2026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0" y="182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EVALUATED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96596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00A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1965960" cy="32004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GitHub Copilot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188720"/>
            <a:ext cx="196596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188720"/>
            <a:ext cx="1965960" cy="3200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16002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Gemini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196596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88720"/>
            <a:ext cx="196596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6002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Claude Code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188720"/>
            <a:ext cx="196596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10A3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188720"/>
            <a:ext cx="1965960" cy="3200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16002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Codex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FINDINGS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393192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154680"/>
            <a:ext cx="73152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Discovered Opus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54787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Long-running complex tasks
</a:t>
            </a:r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High-quality code output
</a:t>
            </a:r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Frontier reasoning capabilities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154680"/>
            <a:ext cx="411480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154680"/>
            <a:ext cx="73152" cy="1463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Discovered OpenClaw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5478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LIGHTBULB MOMENT  </a:t>
            </a:r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Configured and deployed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Azure VM for real-world experimentation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0" y="182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3931920" cy="3474720"/>
          </a:xfrm>
          <a:prstGeom prst="rect">
            <a:avLst/>
          </a:prstGeom>
          <a:solidFill>
            <a:srgbClr val="16263A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68680"/>
            <a:ext cx="393192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86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Analysis Paralysis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353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tools, too many choices — the paradox of abundance in AI: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965960"/>
            <a:ext cx="3566160" cy="530352"/>
          </a:xfrm>
          <a:prstGeom prst="rect">
            <a:avLst/>
          </a:prstGeom>
          <a:solidFill>
            <a:srgbClr val="1E2E3E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756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Hermes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624328"/>
            <a:ext cx="3566160" cy="530352"/>
          </a:xfrm>
          <a:prstGeom prst="rect">
            <a:avLst/>
          </a:prstGeom>
          <a:solidFill>
            <a:srgbClr val="1E2E3E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340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Perplexity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82696"/>
            <a:ext cx="3566160" cy="530352"/>
          </a:xfrm>
          <a:prstGeom prst="rect">
            <a:avLst/>
          </a:prstGeom>
          <a:solidFill>
            <a:srgbClr val="1E2E3E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924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PaperClip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868680"/>
            <a:ext cx="4114800" cy="3474720"/>
          </a:xfrm>
          <a:prstGeom prst="rect">
            <a:avLst/>
          </a:prstGeom>
          <a:solidFill>
            <a:srgbClr val="16263A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868680"/>
            <a:ext cx="4114800" cy="384048"/>
          </a:xfrm>
          <a:prstGeom prst="rect">
            <a:avLst/>
          </a:prstGeom>
          <a:solidFill>
            <a:srgbClr val="1E3A2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886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🦾  OpenClaw Deep Dive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353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experimentation to real-world application: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920240"/>
            <a:ext cx="3886200" cy="621792"/>
          </a:xfrm>
          <a:prstGeom prst="rect">
            <a:avLst/>
          </a:prstGeom>
          <a:solidFill>
            <a:srgbClr val="1E2E3E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103120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66360" y="20299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OpenClaw capabilities &amp; architecture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670048"/>
            <a:ext cx="3886200" cy="621792"/>
          </a:xfrm>
          <a:prstGeom prst="rect">
            <a:avLst/>
          </a:prstGeom>
          <a:solidFill>
            <a:srgbClr val="1E2E3E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852928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66360" y="277977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OpenClaw to perform real-world tasks autonomously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419856"/>
            <a:ext cx="3886200" cy="621792"/>
          </a:xfrm>
          <a:prstGeom prst="rect">
            <a:avLst/>
          </a:prstGeom>
          <a:solidFill>
            <a:srgbClr val="1E2E3E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3602736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6360" y="35295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the boundaries of agentic AI workflows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Agentic AI Works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914400"/>
            <a:ext cx="7680960" cy="3657600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Diagram: How the Agentic Model Works 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agentic workflow diagram here — e.g. Plan → Tools → Execute → Observe → Reflect loop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Overview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841248"/>
            <a:ext cx="8321040" cy="960120"/>
          </a:xfrm>
          <a:prstGeom prst="rect">
            <a:avLst/>
          </a:prstGeom>
          <a:solidFill>
            <a:srgbClr val="1626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41248"/>
            <a:ext cx="73152" cy="9601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868680"/>
            <a:ext cx="8001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your OpenClaw description here — e.g. OpenClaw is an open-source autonomous AI agent framework that enables complex multi-step task execution using tool calling, memory, and planning.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321040" cy="2743200"/>
          </a:xfrm>
          <a:prstGeom prst="rect">
            <a:avLst/>
          </a:prstGeom>
          <a:solidFill>
            <a:srgbClr val="16263A"/>
          </a:solidFill>
          <a:ln w="12700">
            <a:solidFill>
              <a:srgbClr val="FFD16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8321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OpenClaw Architecture / Component Diagram 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 showing OpenClaw components: Agent Core, Tool Registry, Memory Module, Planner, Executor, etc.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OpenClaw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841248"/>
            <a:ext cx="8321040" cy="694944"/>
          </a:xfrm>
          <a:prstGeom prst="rect">
            <a:avLst/>
          </a:prstGeom>
          <a:solidFill>
            <a:srgbClr val="16263A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41248"/>
            <a:ext cx="658368" cy="694944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41248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89611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Azure VM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17043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Azure Virtual Machine (Ubuntu 22.04 LTS recommended). Minimum: 4 vCPU, 16GB RAM. Open ports 22 (SSH) and 8080 (web UI).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8321040" cy="694944"/>
          </a:xfrm>
          <a:prstGeom prst="rect">
            <a:avLst/>
          </a:prstGeom>
          <a:solidFill>
            <a:srgbClr val="16263A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45920"/>
            <a:ext cx="658368" cy="694944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45920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170078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Prerequisites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197510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Docker, Node.js 18+, and Git. Run: sudo apt-get update &amp;&amp; sudo apt-get install -y docker.io nodejs npm git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8321040" cy="694944"/>
          </a:xfrm>
          <a:prstGeom prst="rect">
            <a:avLst/>
          </a:prstGeom>
          <a:solidFill>
            <a:srgbClr val="16263A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50592"/>
            <a:ext cx="658368" cy="694944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50592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250545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OpenClaw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277977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git clone https://github.com/openclaw/openclaw.git &amp;&amp; cd openclaw &amp;&amp; npm install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255264"/>
            <a:ext cx="8321040" cy="694944"/>
          </a:xfrm>
          <a:prstGeom prst="rect">
            <a:avLst/>
          </a:prstGeom>
          <a:solidFill>
            <a:srgbClr val="16263A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55264"/>
            <a:ext cx="658368" cy="694944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55264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331012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API Keys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58444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.env.example to .env. Add your model provider API keys (Anthropic, OpenAI, etc.) and configure tool permissions.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8321040" cy="694944"/>
          </a:xfrm>
          <a:prstGeom prst="rect">
            <a:avLst/>
          </a:prstGeom>
          <a:solidFill>
            <a:srgbClr val="16263A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059936"/>
            <a:ext cx="658368" cy="694944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59936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4440" y="41148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Access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438912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start — then navigate to http://[your-vm-ip]:8080 in your browser to access the OpenClaw dashboard.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Licensing &amp; Access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22960"/>
          <a:ext cx="8366760" cy="4041648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60604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/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Get Access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(Claude)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/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console.anthropic.com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(GPT series)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/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platform.openai.com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(closed)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/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aistudio.google.com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Free +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Gemma 4 (open)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/ AI Studio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Self-host/API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Llama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Meta Licence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llama.meta.com / Hugging Face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Via 3rd party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(open models)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mistral.ai / Hugging Face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Free / Self-host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(commercial)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/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console.mistral.ai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(V3, R1)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platform.deepseek.com / HF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Cheap + Self-host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Grok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/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console.x.ai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 (aggregator)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/ per-model terms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aws.amazon.com/bedrock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AWS key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(aggregator)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per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huggingface.co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Free +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7  |  Note: OpenAI key does NOT give access to Claude — separate accounts required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Journey into AI - Seeing is believing (or is it?)</dc:title>
  <dc:subject>PptxGenJS Presentation</dc:subject>
  <dc:creator>PptxGenJS</dc:creator>
  <cp:lastModifiedBy>PptxGenJS</cp:lastModifiedBy>
  <cp:revision>1</cp:revision>
  <dcterms:created xsi:type="dcterms:W3CDTF">2026-04-12T09:52:37Z</dcterms:created>
  <dcterms:modified xsi:type="dcterms:W3CDTF">2026-04-12T09:52:37Z</dcterms:modified>
</cp:coreProperties>
</file>