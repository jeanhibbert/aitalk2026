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0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35" d="100"/>
          <a:sy n="135" d="100"/>
        </p:scale>
        <p:origin x="204" y="33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44917123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00C9FF"/>
          </a:solidFill>
          <a:ln w="12700">
            <a:solidFill>
              <a:srgbClr val="00C9FF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320040" cy="5143500"/>
          </a:xfrm>
          <a:prstGeom prst="rect">
            <a:avLst/>
          </a:prstGeom>
          <a:solidFill>
            <a:srgbClr val="7B61FF"/>
          </a:solidFill>
          <a:ln w="12700">
            <a:solidFill>
              <a:srgbClr val="7B61FF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" name="Shape 2"/>
          <p:cNvSpPr/>
          <p:nvPr/>
        </p:nvSpPr>
        <p:spPr>
          <a:xfrm>
            <a:off x="6858000" y="1097280"/>
            <a:ext cx="2011680" cy="54864"/>
          </a:xfrm>
          <a:prstGeom prst="rect">
            <a:avLst/>
          </a:prstGeom>
          <a:solidFill>
            <a:srgbClr val="00C9FF">
              <a:alpha val="60000"/>
            </a:srgbClr>
          </a:solidFill>
          <a:ln w="12700">
            <a:solidFill>
              <a:srgbClr val="00C9FF">
                <a:alpha val="6000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" name="Shape 3"/>
          <p:cNvSpPr/>
          <p:nvPr/>
        </p:nvSpPr>
        <p:spPr>
          <a:xfrm>
            <a:off x="7315200" y="1371600"/>
            <a:ext cx="1554480" cy="54864"/>
          </a:xfrm>
          <a:prstGeom prst="rect">
            <a:avLst/>
          </a:prstGeom>
          <a:solidFill>
            <a:srgbClr val="7B61FF">
              <a:alpha val="70000"/>
            </a:srgbClr>
          </a:solidFill>
          <a:ln w="12700">
            <a:solidFill>
              <a:srgbClr val="7B61FF">
                <a:alpha val="7000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" name="Shape 4"/>
          <p:cNvSpPr/>
          <p:nvPr/>
        </p:nvSpPr>
        <p:spPr>
          <a:xfrm>
            <a:off x="7132320" y="1645920"/>
            <a:ext cx="1737360" cy="54864"/>
          </a:xfrm>
          <a:prstGeom prst="rect">
            <a:avLst/>
          </a:prstGeom>
          <a:solidFill>
            <a:srgbClr val="00C9FF">
              <a:alpha val="50000"/>
            </a:srgbClr>
          </a:solidFill>
          <a:ln w="12700">
            <a:solidFill>
              <a:srgbClr val="00C9FF">
                <a:alpha val="5000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7" name="Text 5"/>
          <p:cNvSpPr/>
          <p:nvPr/>
        </p:nvSpPr>
        <p:spPr>
          <a:xfrm>
            <a:off x="5486400" y="457200"/>
            <a:ext cx="3200400" cy="4114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0" b="1" dirty="0">
                <a:solidFill>
                  <a:srgbClr val="7B61FF">
                    <a:alpha val="15000"/>
                  </a:srgbClr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AI</a:t>
            </a:r>
            <a:endParaRPr lang="en-US" sz="20000" dirty="0"/>
          </a:p>
        </p:txBody>
      </p:sp>
      <p:sp>
        <p:nvSpPr>
          <p:cNvPr id="8" name="Text 6"/>
          <p:cNvSpPr/>
          <p:nvPr/>
        </p:nvSpPr>
        <p:spPr>
          <a:xfrm>
            <a:off x="548640" y="1280160"/>
            <a:ext cx="7772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– Falling down the rabbit hole</a:t>
            </a:r>
            <a:endParaRPr lang="en-US" sz="4000" dirty="0"/>
          </a:p>
        </p:txBody>
      </p:sp>
      <p:sp>
        <p:nvSpPr>
          <p:cNvPr id="9" name="Text 7"/>
          <p:cNvSpPr/>
          <p:nvPr/>
        </p:nvSpPr>
        <p:spPr>
          <a:xfrm>
            <a:off x="548640" y="228600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i="1" dirty="0">
                <a:solidFill>
                  <a:srgbClr val="00C9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Seeing is believing (or is it?)</a:t>
            </a:r>
            <a:endParaRPr lang="en-US" sz="2200" dirty="0"/>
          </a:p>
        </p:txBody>
      </p:sp>
      <p:sp>
        <p:nvSpPr>
          <p:cNvPr id="10" name="Shape 8"/>
          <p:cNvSpPr/>
          <p:nvPr/>
        </p:nvSpPr>
        <p:spPr>
          <a:xfrm>
            <a:off x="548640" y="3200400"/>
            <a:ext cx="4114800" cy="36576"/>
          </a:xfrm>
          <a:prstGeom prst="rect">
            <a:avLst/>
          </a:prstGeom>
          <a:solidFill>
            <a:srgbClr val="7A9AB8"/>
          </a:solidFill>
          <a:ln w="12700">
            <a:solidFill>
              <a:srgbClr val="7A9A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1" name="Text 9"/>
          <p:cNvSpPr/>
          <p:nvPr/>
        </p:nvSpPr>
        <p:spPr>
          <a:xfrm>
            <a:off x="548640" y="3337560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7A9A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Jean  •  Director of R&amp;D IT (Data, Analytics &amp; AI)  •  April 2026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0" y="4983480"/>
            <a:ext cx="9144000" cy="160020"/>
          </a:xfrm>
          <a:prstGeom prst="rect">
            <a:avLst/>
          </a:prstGeom>
          <a:solidFill>
            <a:srgbClr val="1B2A3B"/>
          </a:solidFill>
          <a:ln w="12700">
            <a:solidFill>
              <a:srgbClr val="1B2A3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3" name="Text 11"/>
          <p:cNvSpPr/>
          <p:nvPr/>
        </p:nvSpPr>
        <p:spPr>
          <a:xfrm>
            <a:off x="365760" y="5001768"/>
            <a:ext cx="822960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7A9A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AstraZeneca  | 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00C9FF"/>
          </a:solidFill>
          <a:ln w="12700">
            <a:solidFill>
              <a:srgbClr val="00C9FF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320040" cy="5143500"/>
          </a:xfrm>
          <a:prstGeom prst="rect">
            <a:avLst/>
          </a:prstGeom>
          <a:solidFill>
            <a:srgbClr val="00C9FF"/>
          </a:solidFill>
          <a:ln w="12700">
            <a:solidFill>
              <a:srgbClr val="00C9FF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" name="Shape 2"/>
          <p:cNvSpPr/>
          <p:nvPr/>
        </p:nvSpPr>
        <p:spPr>
          <a:xfrm>
            <a:off x="548640" y="182880"/>
            <a:ext cx="502920" cy="502920"/>
          </a:xfrm>
          <a:prstGeom prst="ellipse">
            <a:avLst/>
          </a:prstGeom>
          <a:solidFill>
            <a:srgbClr val="00C9FF"/>
          </a:solidFill>
          <a:ln w="12700">
            <a:solidFill>
              <a:srgbClr val="00C9FF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" name="Text 3"/>
          <p:cNvSpPr/>
          <p:nvPr/>
        </p:nvSpPr>
        <p:spPr>
          <a:xfrm>
            <a:off x="548640" y="201168"/>
            <a:ext cx="502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188720" y="182880"/>
            <a:ext cx="4572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Early Days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5943600" y="182880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600" i="1" dirty="0">
                <a:solidFill>
                  <a:srgbClr val="00C9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Late 2025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457200" y="868680"/>
            <a:ext cx="5303520" cy="658368"/>
          </a:xfrm>
          <a:prstGeom prst="rect">
            <a:avLst/>
          </a:prstGeom>
          <a:solidFill>
            <a:srgbClr val="16263A"/>
          </a:solidFill>
          <a:ln w="12700">
            <a:solidFill>
              <a:srgbClr val="00C9FF">
                <a:alpha val="50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9" name="Shape 7"/>
          <p:cNvSpPr/>
          <p:nvPr/>
        </p:nvSpPr>
        <p:spPr>
          <a:xfrm>
            <a:off x="457200" y="868680"/>
            <a:ext cx="73152" cy="658368"/>
          </a:xfrm>
          <a:prstGeom prst="rect">
            <a:avLst/>
          </a:prstGeom>
          <a:solidFill>
            <a:srgbClr val="00C9FF"/>
          </a:solidFill>
          <a:ln w="12700">
            <a:solidFill>
              <a:srgbClr val="00C9FF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0" name="Text 8"/>
          <p:cNvSpPr/>
          <p:nvPr/>
        </p:nvSpPr>
        <p:spPr>
          <a:xfrm>
            <a:off x="658368" y="905256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00C9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🔍  Search Tool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58368" y="1179576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D0E8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Started using ChatGPT purely as a search replacement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57200" y="1645920"/>
            <a:ext cx="5303520" cy="658368"/>
          </a:xfrm>
          <a:prstGeom prst="rect">
            <a:avLst/>
          </a:prstGeom>
          <a:solidFill>
            <a:srgbClr val="16263A"/>
          </a:solidFill>
          <a:ln w="12700">
            <a:solidFill>
              <a:srgbClr val="00C9FF">
                <a:alpha val="50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13" name="Shape 11"/>
          <p:cNvSpPr/>
          <p:nvPr/>
        </p:nvSpPr>
        <p:spPr>
          <a:xfrm>
            <a:off x="457200" y="1645920"/>
            <a:ext cx="73152" cy="658368"/>
          </a:xfrm>
          <a:prstGeom prst="rect">
            <a:avLst/>
          </a:prstGeom>
          <a:solidFill>
            <a:srgbClr val="00C9FF"/>
          </a:solidFill>
          <a:ln w="12700">
            <a:solidFill>
              <a:srgbClr val="00C9FF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4" name="Text 12"/>
          <p:cNvSpPr/>
          <p:nvPr/>
        </p:nvSpPr>
        <p:spPr>
          <a:xfrm>
            <a:off x="658368" y="1682496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00C9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📄  Summarization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658368" y="1956816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D0E8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Began summarizing documents, articles and long content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57200" y="2423160"/>
            <a:ext cx="5303520" cy="658368"/>
          </a:xfrm>
          <a:prstGeom prst="rect">
            <a:avLst/>
          </a:prstGeom>
          <a:solidFill>
            <a:srgbClr val="16263A"/>
          </a:solidFill>
          <a:ln w="12700">
            <a:solidFill>
              <a:srgbClr val="00C9FF">
                <a:alpha val="50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17" name="Shape 15"/>
          <p:cNvSpPr/>
          <p:nvPr/>
        </p:nvSpPr>
        <p:spPr>
          <a:xfrm>
            <a:off x="457200" y="2423160"/>
            <a:ext cx="73152" cy="658368"/>
          </a:xfrm>
          <a:prstGeom prst="rect">
            <a:avLst/>
          </a:prstGeom>
          <a:solidFill>
            <a:srgbClr val="00C9FF"/>
          </a:solidFill>
          <a:ln w="12700">
            <a:solidFill>
              <a:srgbClr val="00C9FF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8" name="Text 16"/>
          <p:cNvSpPr/>
          <p:nvPr/>
        </p:nvSpPr>
        <p:spPr>
          <a:xfrm>
            <a:off x="658368" y="2459736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00C9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✍️  Content Generation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658368" y="2734056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D0E8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content generation — including maths homework for the kids!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457200" y="3200400"/>
            <a:ext cx="5303520" cy="658368"/>
          </a:xfrm>
          <a:prstGeom prst="rect">
            <a:avLst/>
          </a:prstGeom>
          <a:solidFill>
            <a:srgbClr val="16263A"/>
          </a:solidFill>
          <a:ln w="12700">
            <a:solidFill>
              <a:srgbClr val="00C9FF">
                <a:alpha val="50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21" name="Shape 19"/>
          <p:cNvSpPr/>
          <p:nvPr/>
        </p:nvSpPr>
        <p:spPr>
          <a:xfrm>
            <a:off x="457200" y="3200400"/>
            <a:ext cx="73152" cy="658368"/>
          </a:xfrm>
          <a:prstGeom prst="rect">
            <a:avLst/>
          </a:prstGeom>
          <a:solidFill>
            <a:srgbClr val="00C9FF"/>
          </a:solidFill>
          <a:ln w="12700">
            <a:solidFill>
              <a:srgbClr val="00C9FF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2" name="Text 20"/>
          <p:cNvSpPr/>
          <p:nvPr/>
        </p:nvSpPr>
        <p:spPr>
          <a:xfrm>
            <a:off x="658368" y="3236976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00C9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💻  Code Generation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658368" y="3511296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D0E8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Leveraged GenAI capabilities for software development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457200" y="3977640"/>
            <a:ext cx="5303520" cy="658368"/>
          </a:xfrm>
          <a:prstGeom prst="rect">
            <a:avLst/>
          </a:prstGeom>
          <a:solidFill>
            <a:srgbClr val="16263A"/>
          </a:solidFill>
          <a:ln w="12700">
            <a:solidFill>
              <a:srgbClr val="00C9FF">
                <a:alpha val="50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25" name="Shape 23"/>
          <p:cNvSpPr/>
          <p:nvPr/>
        </p:nvSpPr>
        <p:spPr>
          <a:xfrm>
            <a:off x="457200" y="3977640"/>
            <a:ext cx="73152" cy="658368"/>
          </a:xfrm>
          <a:prstGeom prst="rect">
            <a:avLst/>
          </a:prstGeom>
          <a:solidFill>
            <a:srgbClr val="00C9FF"/>
          </a:solidFill>
          <a:ln w="12700">
            <a:solidFill>
              <a:srgbClr val="00C9FF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6" name="Text 24"/>
          <p:cNvSpPr/>
          <p:nvPr/>
        </p:nvSpPr>
        <p:spPr>
          <a:xfrm>
            <a:off x="658368" y="4014216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00C9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👨‍👩‍👧‍👦  Family Access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658368" y="4288536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D0E8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Ensured the whole family had access to Grok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5989320" y="914400"/>
            <a:ext cx="2834640" cy="3474720"/>
          </a:xfrm>
          <a:prstGeom prst="rect">
            <a:avLst/>
          </a:prstGeom>
          <a:solidFill>
            <a:srgbClr val="16263A"/>
          </a:solidFill>
          <a:ln w="12700">
            <a:solidFill>
              <a:srgbClr val="FFD166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29" name="Text 27"/>
          <p:cNvSpPr/>
          <p:nvPr/>
        </p:nvSpPr>
        <p:spPr>
          <a:xfrm>
            <a:off x="5989320" y="960120"/>
            <a:ext cx="2834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800" dirty="0">
                <a:solidFill>
                  <a:srgbClr val="000000"/>
                </a:solidFill>
              </a:rPr>
              <a:t>💡</a:t>
            </a:r>
            <a:endParaRPr lang="en-US" sz="4800" dirty="0"/>
          </a:p>
        </p:txBody>
      </p:sp>
      <p:sp>
        <p:nvSpPr>
          <p:cNvPr id="30" name="Text 28"/>
          <p:cNvSpPr/>
          <p:nvPr/>
        </p:nvSpPr>
        <p:spPr>
          <a:xfrm>
            <a:off x="6080760" y="182880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D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Lightbulb Moment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6080760" y="2286000"/>
            <a:ext cx="26517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D0E8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Realising the immense learning power now unlocked through AI — this wasn't just a tool, it was a paradigm shift.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0" y="4983480"/>
            <a:ext cx="9144000" cy="160020"/>
          </a:xfrm>
          <a:prstGeom prst="rect">
            <a:avLst/>
          </a:prstGeom>
          <a:solidFill>
            <a:srgbClr val="1B2A3B"/>
          </a:solidFill>
          <a:ln w="12700">
            <a:solidFill>
              <a:srgbClr val="1B2A3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3" name="Text 31"/>
          <p:cNvSpPr/>
          <p:nvPr/>
        </p:nvSpPr>
        <p:spPr>
          <a:xfrm>
            <a:off x="365760" y="5001768"/>
            <a:ext cx="822960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7A9A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 Journey into AI  |  Slide 1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7B61FF"/>
          </a:solidFill>
          <a:ln w="12700">
            <a:solidFill>
              <a:srgbClr val="7B61FF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320040" cy="5143500"/>
          </a:xfrm>
          <a:prstGeom prst="rect">
            <a:avLst/>
          </a:prstGeom>
          <a:solidFill>
            <a:srgbClr val="7B61FF"/>
          </a:solidFill>
          <a:ln w="12700">
            <a:solidFill>
              <a:srgbClr val="7B61FF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" name="Shape 2"/>
          <p:cNvSpPr/>
          <p:nvPr/>
        </p:nvSpPr>
        <p:spPr>
          <a:xfrm>
            <a:off x="548640" y="182880"/>
            <a:ext cx="502920" cy="502920"/>
          </a:xfrm>
          <a:prstGeom prst="ellipse">
            <a:avLst/>
          </a:prstGeom>
          <a:solidFill>
            <a:srgbClr val="7B61FF"/>
          </a:solidFill>
          <a:ln w="12700">
            <a:solidFill>
              <a:srgbClr val="7B61FF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" name="Text 3"/>
          <p:cNvSpPr/>
          <p:nvPr/>
        </p:nvSpPr>
        <p:spPr>
          <a:xfrm>
            <a:off x="548640" y="201168"/>
            <a:ext cx="502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188720" y="182880"/>
            <a:ext cx="4572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Early 2026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5943600" y="182880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i="1" dirty="0">
                <a:solidFill>
                  <a:srgbClr val="7B61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Testing &amp; Evaluation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457200" y="86868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kern="0" spc="300" dirty="0">
                <a:solidFill>
                  <a:srgbClr val="7A9A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TOOLS EVALUATED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457200" y="1188720"/>
            <a:ext cx="1965960" cy="1463040"/>
          </a:xfrm>
          <a:prstGeom prst="rect">
            <a:avLst/>
          </a:prstGeom>
          <a:solidFill>
            <a:srgbClr val="16263A"/>
          </a:solidFill>
          <a:ln w="12700">
            <a:solidFill>
              <a:srgbClr val="00A4EF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10" name="Shape 8"/>
          <p:cNvSpPr/>
          <p:nvPr/>
        </p:nvSpPr>
        <p:spPr>
          <a:xfrm>
            <a:off x="457200" y="1188720"/>
            <a:ext cx="1965960" cy="320040"/>
          </a:xfrm>
          <a:prstGeom prst="rect">
            <a:avLst/>
          </a:prstGeom>
          <a:solidFill>
            <a:srgbClr val="00A4EF"/>
          </a:solidFill>
          <a:ln w="12700">
            <a:solidFill>
              <a:srgbClr val="00A4EF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1" name="Text 9"/>
          <p:cNvSpPr/>
          <p:nvPr/>
        </p:nvSpPr>
        <p:spPr>
          <a:xfrm>
            <a:off x="502920" y="1188720"/>
            <a:ext cx="1874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Microsoft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548640" y="1600200"/>
            <a:ext cx="1783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D0E8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 GitHub Copilot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606040" y="1188720"/>
            <a:ext cx="1965960" cy="1463040"/>
          </a:xfrm>
          <a:prstGeom prst="rect">
            <a:avLst/>
          </a:prstGeom>
          <a:solidFill>
            <a:srgbClr val="16263A"/>
          </a:solidFill>
          <a:ln w="12700">
            <a:solidFill>
              <a:srgbClr val="34A853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14" name="Shape 12"/>
          <p:cNvSpPr/>
          <p:nvPr/>
        </p:nvSpPr>
        <p:spPr>
          <a:xfrm>
            <a:off x="2606040" y="1188720"/>
            <a:ext cx="1965960" cy="320040"/>
          </a:xfrm>
          <a:prstGeom prst="rect">
            <a:avLst/>
          </a:prstGeom>
          <a:solidFill>
            <a:srgbClr val="34A853"/>
          </a:solidFill>
          <a:ln w="12700">
            <a:solidFill>
              <a:srgbClr val="34A853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5" name="Text 13"/>
          <p:cNvSpPr/>
          <p:nvPr/>
        </p:nvSpPr>
        <p:spPr>
          <a:xfrm>
            <a:off x="2651760" y="1188720"/>
            <a:ext cx="1874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2697480" y="1600200"/>
            <a:ext cx="1783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D0E8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 Gemini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754880" y="1188720"/>
            <a:ext cx="1965960" cy="1463040"/>
          </a:xfrm>
          <a:prstGeom prst="rect">
            <a:avLst/>
          </a:prstGeom>
          <a:solidFill>
            <a:srgbClr val="16263A"/>
          </a:solidFill>
          <a:ln w="12700">
            <a:solidFill>
              <a:srgbClr val="D97706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18" name="Shape 16"/>
          <p:cNvSpPr/>
          <p:nvPr/>
        </p:nvSpPr>
        <p:spPr>
          <a:xfrm>
            <a:off x="4754880" y="1188720"/>
            <a:ext cx="1965960" cy="320040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9" name="Text 17"/>
          <p:cNvSpPr/>
          <p:nvPr/>
        </p:nvSpPr>
        <p:spPr>
          <a:xfrm>
            <a:off x="4800600" y="1188720"/>
            <a:ext cx="1874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Anthropic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846320" y="1600200"/>
            <a:ext cx="1783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D0E8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 Claude Code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6903720" y="1188720"/>
            <a:ext cx="1965960" cy="1463040"/>
          </a:xfrm>
          <a:prstGeom prst="rect">
            <a:avLst/>
          </a:prstGeom>
          <a:solidFill>
            <a:srgbClr val="16263A"/>
          </a:solidFill>
          <a:ln w="12700">
            <a:solidFill>
              <a:srgbClr val="10A37F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22" name="Shape 20"/>
          <p:cNvSpPr/>
          <p:nvPr/>
        </p:nvSpPr>
        <p:spPr>
          <a:xfrm>
            <a:off x="6903720" y="1188720"/>
            <a:ext cx="1965960" cy="320040"/>
          </a:xfrm>
          <a:prstGeom prst="rect">
            <a:avLst/>
          </a:prstGeom>
          <a:solidFill>
            <a:srgbClr val="10A37F"/>
          </a:solidFill>
          <a:ln w="12700">
            <a:solidFill>
              <a:srgbClr val="10A37F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3" name="Text 21"/>
          <p:cNvSpPr/>
          <p:nvPr/>
        </p:nvSpPr>
        <p:spPr>
          <a:xfrm>
            <a:off x="6949440" y="1188720"/>
            <a:ext cx="1874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OpenAI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6995160" y="1600200"/>
            <a:ext cx="1783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D0E8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 Codex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457200" y="283464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kern="0" spc="300" dirty="0">
                <a:solidFill>
                  <a:srgbClr val="7A9A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EVALUATION FINDINGS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457200" y="3154680"/>
            <a:ext cx="3931920" cy="1463040"/>
          </a:xfrm>
          <a:prstGeom prst="rect">
            <a:avLst/>
          </a:prstGeom>
          <a:solidFill>
            <a:srgbClr val="16263A"/>
          </a:solidFill>
          <a:ln w="12700">
            <a:solidFill>
              <a:srgbClr val="D97706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27" name="Shape 25"/>
          <p:cNvSpPr/>
          <p:nvPr/>
        </p:nvSpPr>
        <p:spPr>
          <a:xfrm>
            <a:off x="457200" y="3154680"/>
            <a:ext cx="73152" cy="1463040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8" name="Text 26"/>
          <p:cNvSpPr/>
          <p:nvPr/>
        </p:nvSpPr>
        <p:spPr>
          <a:xfrm>
            <a:off x="640080" y="3200400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🔭  Discovered Opus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640080" y="3547872"/>
            <a:ext cx="3657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D0E8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Long-running complex tasks
• High-quality code output
• Frontier reasoning capabilities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4663440" y="3154680"/>
            <a:ext cx="4114800" cy="1463040"/>
          </a:xfrm>
          <a:prstGeom prst="rect">
            <a:avLst/>
          </a:prstGeom>
          <a:solidFill>
            <a:srgbClr val="16263A"/>
          </a:solidFill>
          <a:ln w="12700">
            <a:solidFill>
              <a:srgbClr val="FFD166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31" name="Shape 29"/>
          <p:cNvSpPr/>
          <p:nvPr/>
        </p:nvSpPr>
        <p:spPr>
          <a:xfrm>
            <a:off x="4663440" y="3154680"/>
            <a:ext cx="73152" cy="1463040"/>
          </a:xfrm>
          <a:prstGeom prst="rect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2" name="Text 30"/>
          <p:cNvSpPr/>
          <p:nvPr/>
        </p:nvSpPr>
        <p:spPr>
          <a:xfrm>
            <a:off x="4846320" y="3200400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FD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 Discovered OpenClaw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4846320" y="3547872"/>
            <a:ext cx="3840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FFD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LIGHTBULB MOMENT  </a:t>
            </a:r>
            <a:r>
              <a:rPr lang="en-US" sz="1000" dirty="0">
                <a:solidFill>
                  <a:srgbClr val="D0E8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Configured and deployed</a:t>
            </a:r>
            <a:endParaRPr lang="en-US" sz="1000" dirty="0"/>
          </a:p>
          <a:p>
            <a:pPr marL="0" indent="0" algn="l">
              <a:buNone/>
            </a:pPr>
            <a:r>
              <a:rPr lang="en-US" sz="1000" dirty="0">
                <a:solidFill>
                  <a:srgbClr val="D0E8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an Azure VM for real-world experimentation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0" y="4983480"/>
            <a:ext cx="9144000" cy="160020"/>
          </a:xfrm>
          <a:prstGeom prst="rect">
            <a:avLst/>
          </a:prstGeom>
          <a:solidFill>
            <a:srgbClr val="1B2A3B"/>
          </a:solidFill>
          <a:ln w="12700">
            <a:solidFill>
              <a:srgbClr val="1B2A3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5" name="Text 33"/>
          <p:cNvSpPr/>
          <p:nvPr/>
        </p:nvSpPr>
        <p:spPr>
          <a:xfrm>
            <a:off x="365760" y="5001768"/>
            <a:ext cx="822960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7A9A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 Journey into AI  |  Slide 2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FF6B6B"/>
          </a:solidFill>
          <a:ln w="12700">
            <a:solidFill>
              <a:srgbClr val="FF6B6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320040" cy="5143500"/>
          </a:xfrm>
          <a:prstGeom prst="rect">
            <a:avLst/>
          </a:prstGeom>
          <a:solidFill>
            <a:srgbClr val="FF6B6B"/>
          </a:solidFill>
          <a:ln w="12700">
            <a:solidFill>
              <a:srgbClr val="FF6B6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" name="Shape 2"/>
          <p:cNvSpPr/>
          <p:nvPr/>
        </p:nvSpPr>
        <p:spPr>
          <a:xfrm>
            <a:off x="548640" y="182880"/>
            <a:ext cx="502920" cy="502920"/>
          </a:xfrm>
          <a:prstGeom prst="ellipse">
            <a:avLst/>
          </a:prstGeom>
          <a:solidFill>
            <a:srgbClr val="FF6B6B"/>
          </a:solidFill>
          <a:ln w="12700">
            <a:solidFill>
              <a:srgbClr val="FF6B6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" name="Text 3"/>
          <p:cNvSpPr/>
          <p:nvPr/>
        </p:nvSpPr>
        <p:spPr>
          <a:xfrm>
            <a:off x="548640" y="201168"/>
            <a:ext cx="502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188720" y="182880"/>
            <a:ext cx="4572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April 2026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5943600" y="182880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i="1" dirty="0">
                <a:solidFill>
                  <a:srgbClr val="FF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Present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57200" y="868680"/>
            <a:ext cx="3931920" cy="3474720"/>
          </a:xfrm>
          <a:prstGeom prst="rect">
            <a:avLst/>
          </a:prstGeom>
          <a:solidFill>
            <a:srgbClr val="16263A"/>
          </a:solidFill>
          <a:ln w="12700">
            <a:solidFill>
              <a:srgbClr val="FF6B6B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9" name="Shape 7"/>
          <p:cNvSpPr/>
          <p:nvPr/>
        </p:nvSpPr>
        <p:spPr>
          <a:xfrm>
            <a:off x="457200" y="868680"/>
            <a:ext cx="3931920" cy="384048"/>
          </a:xfrm>
          <a:prstGeom prst="rect">
            <a:avLst/>
          </a:prstGeom>
          <a:solidFill>
            <a:srgbClr val="FF6B6B"/>
          </a:solidFill>
          <a:ln w="12700">
            <a:solidFill>
              <a:srgbClr val="FF6B6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0" name="Text 8"/>
          <p:cNvSpPr/>
          <p:nvPr/>
        </p:nvSpPr>
        <p:spPr>
          <a:xfrm>
            <a:off x="548640" y="886968"/>
            <a:ext cx="3749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🌀  Analysis Paralysis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594360" y="1353312"/>
            <a:ext cx="3749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i="1" dirty="0">
                <a:solidFill>
                  <a:srgbClr val="D0E8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 many tools, too many choices — the paradox of abundance in AI: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40080" y="1965960"/>
            <a:ext cx="3566160" cy="530352"/>
          </a:xfrm>
          <a:prstGeom prst="rect">
            <a:avLst/>
          </a:prstGeom>
          <a:solidFill>
            <a:srgbClr val="1E2E3E"/>
          </a:solidFill>
          <a:ln w="12700">
            <a:solidFill>
              <a:srgbClr val="FF6B6B">
                <a:alpha val="5000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3" name="Text 11"/>
          <p:cNvSpPr/>
          <p:nvPr/>
        </p:nvSpPr>
        <p:spPr>
          <a:xfrm>
            <a:off x="777240" y="2075688"/>
            <a:ext cx="3291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F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⚡  Hermes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40080" y="2624328"/>
            <a:ext cx="3566160" cy="530352"/>
          </a:xfrm>
          <a:prstGeom prst="rect">
            <a:avLst/>
          </a:prstGeom>
          <a:solidFill>
            <a:srgbClr val="1E2E3E"/>
          </a:solidFill>
          <a:ln w="12700">
            <a:solidFill>
              <a:srgbClr val="FF6B6B">
                <a:alpha val="5000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5" name="Text 13"/>
          <p:cNvSpPr/>
          <p:nvPr/>
        </p:nvSpPr>
        <p:spPr>
          <a:xfrm>
            <a:off x="777240" y="2734056"/>
            <a:ext cx="3291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F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⚡  Perplexity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40080" y="3282696"/>
            <a:ext cx="3566160" cy="530352"/>
          </a:xfrm>
          <a:prstGeom prst="rect">
            <a:avLst/>
          </a:prstGeom>
          <a:solidFill>
            <a:srgbClr val="1E2E3E"/>
          </a:solidFill>
          <a:ln w="12700">
            <a:solidFill>
              <a:srgbClr val="FF6B6B">
                <a:alpha val="5000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7" name="Text 15"/>
          <p:cNvSpPr/>
          <p:nvPr/>
        </p:nvSpPr>
        <p:spPr>
          <a:xfrm>
            <a:off x="777240" y="3392424"/>
            <a:ext cx="3291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F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⚡  PaperClip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4663440" y="868680"/>
            <a:ext cx="4114800" cy="3474720"/>
          </a:xfrm>
          <a:prstGeom prst="rect">
            <a:avLst/>
          </a:prstGeom>
          <a:solidFill>
            <a:srgbClr val="16263A"/>
          </a:solidFill>
          <a:ln w="12700">
            <a:solidFill>
              <a:srgbClr val="FFD166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19" name="Shape 17"/>
          <p:cNvSpPr/>
          <p:nvPr/>
        </p:nvSpPr>
        <p:spPr>
          <a:xfrm>
            <a:off x="4663440" y="868680"/>
            <a:ext cx="4114800" cy="384048"/>
          </a:xfrm>
          <a:prstGeom prst="rect">
            <a:avLst/>
          </a:prstGeom>
          <a:solidFill>
            <a:srgbClr val="1E3A2E"/>
          </a:solidFill>
          <a:ln w="12700">
            <a:solidFill>
              <a:srgbClr val="FFD16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0" name="Text 18"/>
          <p:cNvSpPr/>
          <p:nvPr/>
        </p:nvSpPr>
        <p:spPr>
          <a:xfrm>
            <a:off x="4754880" y="886968"/>
            <a:ext cx="3931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D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🦾  OpenClaw Deep Dive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754880" y="1353312"/>
            <a:ext cx="3840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i="1" dirty="0">
                <a:solidFill>
                  <a:srgbClr val="D0E8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Moving from experimentation to real-world application: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4754880" y="1920240"/>
            <a:ext cx="3886200" cy="621792"/>
          </a:xfrm>
          <a:prstGeom prst="rect">
            <a:avLst/>
          </a:prstGeom>
          <a:solidFill>
            <a:srgbClr val="1E2E3E"/>
          </a:solidFill>
          <a:ln w="12700">
            <a:solidFill>
              <a:srgbClr val="FFD166">
                <a:alpha val="5000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3" name="Shape 21"/>
          <p:cNvSpPr/>
          <p:nvPr/>
        </p:nvSpPr>
        <p:spPr>
          <a:xfrm>
            <a:off x="4828032" y="2103120"/>
            <a:ext cx="256032" cy="256032"/>
          </a:xfrm>
          <a:prstGeom prst="ellips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4" name="Text 22"/>
          <p:cNvSpPr/>
          <p:nvPr/>
        </p:nvSpPr>
        <p:spPr>
          <a:xfrm>
            <a:off x="4828032" y="2103120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5166360" y="2029968"/>
            <a:ext cx="3383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D0E8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Researching OpenClaw capabilities &amp; architecture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4754880" y="2670048"/>
            <a:ext cx="3886200" cy="621792"/>
          </a:xfrm>
          <a:prstGeom prst="rect">
            <a:avLst/>
          </a:prstGeom>
          <a:solidFill>
            <a:srgbClr val="1E2E3E"/>
          </a:solidFill>
          <a:ln w="12700">
            <a:solidFill>
              <a:srgbClr val="FFD166">
                <a:alpha val="5000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7" name="Shape 25"/>
          <p:cNvSpPr/>
          <p:nvPr/>
        </p:nvSpPr>
        <p:spPr>
          <a:xfrm>
            <a:off x="4828032" y="2852928"/>
            <a:ext cx="256032" cy="256032"/>
          </a:xfrm>
          <a:prstGeom prst="ellips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8" name="Text 26"/>
          <p:cNvSpPr/>
          <p:nvPr/>
        </p:nvSpPr>
        <p:spPr>
          <a:xfrm>
            <a:off x="4828032" y="2852928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5166360" y="2779776"/>
            <a:ext cx="3383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D0E8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Getting OpenClaw to perform real-world tasks autonomously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4754880" y="3419856"/>
            <a:ext cx="3886200" cy="621792"/>
          </a:xfrm>
          <a:prstGeom prst="rect">
            <a:avLst/>
          </a:prstGeom>
          <a:solidFill>
            <a:srgbClr val="1E2E3E"/>
          </a:solidFill>
          <a:ln w="12700">
            <a:solidFill>
              <a:srgbClr val="FFD166">
                <a:alpha val="5000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1" name="Shape 29"/>
          <p:cNvSpPr/>
          <p:nvPr/>
        </p:nvSpPr>
        <p:spPr>
          <a:xfrm>
            <a:off x="4828032" y="3602736"/>
            <a:ext cx="256032" cy="256032"/>
          </a:xfrm>
          <a:prstGeom prst="ellips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2" name="Text 30"/>
          <p:cNvSpPr/>
          <p:nvPr/>
        </p:nvSpPr>
        <p:spPr>
          <a:xfrm>
            <a:off x="4828032" y="3602736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5166360" y="3529584"/>
            <a:ext cx="3383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D0E8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Pushing the boundaries of agentic AI workflows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0" y="4983480"/>
            <a:ext cx="9144000" cy="160020"/>
          </a:xfrm>
          <a:prstGeom prst="rect">
            <a:avLst/>
          </a:prstGeom>
          <a:solidFill>
            <a:srgbClr val="1B2A3B"/>
          </a:solidFill>
          <a:ln w="12700">
            <a:solidFill>
              <a:srgbClr val="1B2A3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5" name="Text 33"/>
          <p:cNvSpPr/>
          <p:nvPr/>
        </p:nvSpPr>
        <p:spPr>
          <a:xfrm>
            <a:off x="365760" y="5001768"/>
            <a:ext cx="822960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7A9A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 Journey into AI  |  Slide 3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00C9FF"/>
          </a:solidFill>
          <a:ln w="12700">
            <a:solidFill>
              <a:srgbClr val="00C9FF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320040" cy="5143500"/>
          </a:xfrm>
          <a:prstGeom prst="rect">
            <a:avLst/>
          </a:prstGeom>
          <a:solidFill>
            <a:srgbClr val="00C9FF"/>
          </a:solidFill>
          <a:ln w="12700">
            <a:solidFill>
              <a:srgbClr val="00C9FF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" name="Shape 2"/>
          <p:cNvSpPr/>
          <p:nvPr/>
        </p:nvSpPr>
        <p:spPr>
          <a:xfrm>
            <a:off x="548640" y="182880"/>
            <a:ext cx="502920" cy="502920"/>
          </a:xfrm>
          <a:prstGeom prst="ellipse">
            <a:avLst/>
          </a:prstGeom>
          <a:solidFill>
            <a:srgbClr val="00C9FF"/>
          </a:solidFill>
          <a:ln w="12700">
            <a:solidFill>
              <a:srgbClr val="00C9FF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" name="Text 3"/>
          <p:cNvSpPr/>
          <p:nvPr/>
        </p:nvSpPr>
        <p:spPr>
          <a:xfrm>
            <a:off x="548640" y="201168"/>
            <a:ext cx="502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188720" y="182880"/>
            <a:ext cx="7315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Agentic AI Works</a:t>
            </a:r>
            <a:endParaRPr lang="en-US" sz="2600" dirty="0"/>
          </a:p>
        </p:txBody>
      </p:sp>
      <p:sp>
        <p:nvSpPr>
          <p:cNvPr id="7" name="Shape 5"/>
          <p:cNvSpPr/>
          <p:nvPr/>
        </p:nvSpPr>
        <p:spPr>
          <a:xfrm>
            <a:off x="419927" y="948342"/>
            <a:ext cx="5045502" cy="3744831"/>
          </a:xfrm>
          <a:prstGeom prst="rect">
            <a:avLst/>
          </a:prstGeom>
          <a:solidFill>
            <a:srgbClr val="16263A"/>
          </a:solidFill>
          <a:ln w="12700">
            <a:solidFill>
              <a:srgbClr val="00C9FF"/>
            </a:solidFill>
            <a:prstDash val="dash"/>
          </a:ln>
        </p:spPr>
        <p:txBody>
          <a:bodyPr/>
          <a:lstStyle/>
          <a:p>
            <a:endParaRPr lang="en-GB" dirty="0">
              <a:solidFill>
                <a:schemeClr val="bg1"/>
              </a:solidFill>
            </a:endParaRPr>
          </a:p>
        </p:txBody>
      </p:sp>
      <p:sp>
        <p:nvSpPr>
          <p:cNvPr id="8" name="Text 6"/>
          <p:cNvSpPr/>
          <p:nvPr/>
        </p:nvSpPr>
        <p:spPr>
          <a:xfrm>
            <a:off x="731520" y="914400"/>
            <a:ext cx="768096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0" y="4983480"/>
            <a:ext cx="9144000" cy="160020"/>
          </a:xfrm>
          <a:prstGeom prst="rect">
            <a:avLst/>
          </a:prstGeom>
          <a:solidFill>
            <a:srgbClr val="1B2A3B"/>
          </a:solidFill>
          <a:ln w="12700">
            <a:solidFill>
              <a:srgbClr val="1B2A3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1" name="Text 9"/>
          <p:cNvSpPr/>
          <p:nvPr/>
        </p:nvSpPr>
        <p:spPr>
          <a:xfrm>
            <a:off x="365760" y="5001768"/>
            <a:ext cx="822960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7A9A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 Journey into AI  |  Slide 4</a:t>
            </a:r>
            <a:endParaRPr lang="en-US" sz="900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818E9A63-C962-5D0C-C7B0-0EB8B5A7BBD6}"/>
              </a:ext>
            </a:extLst>
          </p:cNvPr>
          <p:cNvSpPr/>
          <p:nvPr/>
        </p:nvSpPr>
        <p:spPr>
          <a:xfrm>
            <a:off x="2283773" y="1213335"/>
            <a:ext cx="1077433" cy="481121"/>
          </a:xfrm>
          <a:prstGeom prst="rect">
            <a:avLst/>
          </a:prstGeom>
          <a:solidFill>
            <a:schemeClr val="tx2">
              <a:lumMod val="75000"/>
            </a:schemeClr>
          </a:solidFill>
          <a:ln>
            <a:solidFill>
              <a:schemeClr val="accent1"/>
            </a:solidFill>
          </a:ln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LLM</a:t>
            </a:r>
            <a:endParaRPr lang="en-GB" dirty="0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FFB96587-A814-38FE-2C50-F6F8A260710E}"/>
              </a:ext>
            </a:extLst>
          </p:cNvPr>
          <p:cNvSpPr/>
          <p:nvPr/>
        </p:nvSpPr>
        <p:spPr>
          <a:xfrm>
            <a:off x="2283772" y="1911541"/>
            <a:ext cx="1077433" cy="481121"/>
          </a:xfrm>
          <a:prstGeom prst="rect">
            <a:avLst/>
          </a:prstGeom>
          <a:solidFill>
            <a:schemeClr val="tx2">
              <a:lumMod val="75000"/>
            </a:schemeClr>
          </a:solidFill>
          <a:ln>
            <a:solidFill>
              <a:schemeClr val="accent1"/>
            </a:solidFill>
          </a:ln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AGENT</a:t>
            </a:r>
            <a:endParaRPr lang="en-GB" dirty="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90A46983-4E93-042A-C279-9799EE5FE5CA}"/>
              </a:ext>
            </a:extLst>
          </p:cNvPr>
          <p:cNvSpPr/>
          <p:nvPr/>
        </p:nvSpPr>
        <p:spPr>
          <a:xfrm>
            <a:off x="561043" y="2731891"/>
            <a:ext cx="4627645" cy="1632774"/>
          </a:xfrm>
          <a:prstGeom prst="rect">
            <a:avLst/>
          </a:prstGeom>
          <a:solidFill>
            <a:schemeClr val="tx2">
              <a:lumMod val="75000"/>
            </a:schemeClr>
          </a:solidFill>
          <a:ln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9A3EC51A-2723-C911-D73E-DC040AC2F40B}"/>
              </a:ext>
            </a:extLst>
          </p:cNvPr>
          <p:cNvSpPr/>
          <p:nvPr/>
        </p:nvSpPr>
        <p:spPr>
          <a:xfrm>
            <a:off x="713444" y="2948976"/>
            <a:ext cx="1077433" cy="481121"/>
          </a:xfrm>
          <a:prstGeom prst="rect">
            <a:avLst/>
          </a:prstGeom>
          <a:solidFill>
            <a:schemeClr val="tx2">
              <a:lumMod val="75000"/>
            </a:schemeClr>
          </a:solidFill>
          <a:ln>
            <a:solidFill>
              <a:schemeClr val="accent1"/>
            </a:solidFill>
          </a:ln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SYSTEM</a:t>
            </a:r>
          </a:p>
          <a:p>
            <a:pPr algn="ctr"/>
            <a:r>
              <a:rPr lang="en-US" sz="1200" dirty="0"/>
              <a:t>PROMPT</a:t>
            </a:r>
            <a:endParaRPr lang="en-GB" sz="1200" dirty="0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5D7C7DB4-CB23-7AAD-360B-8E8C2DE7E6BE}"/>
              </a:ext>
            </a:extLst>
          </p:cNvPr>
          <p:cNvSpPr/>
          <p:nvPr/>
        </p:nvSpPr>
        <p:spPr>
          <a:xfrm>
            <a:off x="2290963" y="2955618"/>
            <a:ext cx="1077433" cy="481121"/>
          </a:xfrm>
          <a:prstGeom prst="rect">
            <a:avLst/>
          </a:prstGeom>
          <a:solidFill>
            <a:schemeClr val="tx2">
              <a:lumMod val="75000"/>
            </a:schemeClr>
          </a:solidFill>
          <a:ln>
            <a:solidFill>
              <a:schemeClr val="accent1"/>
            </a:solidFill>
          </a:ln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RESOURCES</a:t>
            </a:r>
            <a:endParaRPr lang="en-GB" sz="1200" dirty="0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5448A0AA-C261-7E2E-7F18-34DB1DFF38E5}"/>
              </a:ext>
            </a:extLst>
          </p:cNvPr>
          <p:cNvSpPr/>
          <p:nvPr/>
        </p:nvSpPr>
        <p:spPr>
          <a:xfrm>
            <a:off x="3864936" y="3047687"/>
            <a:ext cx="1077433" cy="481121"/>
          </a:xfrm>
          <a:prstGeom prst="rect">
            <a:avLst/>
          </a:prstGeom>
          <a:solidFill>
            <a:schemeClr val="tx2">
              <a:lumMod val="75000"/>
            </a:schemeClr>
          </a:solidFill>
          <a:ln>
            <a:solidFill>
              <a:schemeClr val="accent1"/>
            </a:solidFill>
          </a:ln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ASSISTANT</a:t>
            </a:r>
          </a:p>
          <a:p>
            <a:pPr algn="ctr"/>
            <a:r>
              <a:rPr lang="en-US" sz="1200" dirty="0"/>
              <a:t>MESSAGES</a:t>
            </a:r>
            <a:endParaRPr lang="en-GB" sz="1200" dirty="0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5C1F3BD0-F18E-BA34-FA8C-ACE8F454E54D}"/>
              </a:ext>
            </a:extLst>
          </p:cNvPr>
          <p:cNvSpPr/>
          <p:nvPr/>
        </p:nvSpPr>
        <p:spPr>
          <a:xfrm>
            <a:off x="709898" y="3707394"/>
            <a:ext cx="1077433" cy="481121"/>
          </a:xfrm>
          <a:prstGeom prst="rect">
            <a:avLst/>
          </a:prstGeom>
          <a:solidFill>
            <a:schemeClr val="tx2">
              <a:lumMod val="75000"/>
            </a:schemeClr>
          </a:solidFill>
          <a:ln>
            <a:solidFill>
              <a:schemeClr val="accent1"/>
            </a:solidFill>
          </a:ln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TOOLS</a:t>
            </a:r>
            <a:endParaRPr lang="en-GB" dirty="0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4753B86C-1810-13BE-46A0-07EAFE7A4FDD}"/>
              </a:ext>
            </a:extLst>
          </p:cNvPr>
          <p:cNvSpPr/>
          <p:nvPr/>
        </p:nvSpPr>
        <p:spPr>
          <a:xfrm>
            <a:off x="2290963" y="3714037"/>
            <a:ext cx="1077433" cy="481121"/>
          </a:xfrm>
          <a:prstGeom prst="rect">
            <a:avLst/>
          </a:prstGeom>
          <a:solidFill>
            <a:schemeClr val="tx2">
              <a:lumMod val="75000"/>
            </a:schemeClr>
          </a:solidFill>
          <a:ln>
            <a:solidFill>
              <a:schemeClr val="accent1"/>
            </a:solidFill>
          </a:ln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USER MESSAGE</a:t>
            </a:r>
            <a:endParaRPr lang="en-GB" sz="1200" dirty="0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87791258-E613-0EC6-784A-97181ED93DB1}"/>
              </a:ext>
            </a:extLst>
          </p:cNvPr>
          <p:cNvSpPr/>
          <p:nvPr/>
        </p:nvSpPr>
        <p:spPr>
          <a:xfrm>
            <a:off x="3864936" y="3751653"/>
            <a:ext cx="1077433" cy="481121"/>
          </a:xfrm>
          <a:prstGeom prst="rect">
            <a:avLst/>
          </a:prstGeom>
          <a:solidFill>
            <a:schemeClr val="tx2">
              <a:lumMod val="75000"/>
            </a:schemeClr>
          </a:solidFill>
          <a:ln>
            <a:solidFill>
              <a:schemeClr val="accent1"/>
            </a:solidFill>
          </a:ln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50" dirty="0"/>
              <a:t>TOOL</a:t>
            </a:r>
          </a:p>
          <a:p>
            <a:pPr algn="ctr"/>
            <a:r>
              <a:rPr lang="en-US" sz="1050" dirty="0"/>
              <a:t>CALL/RESPONSE</a:t>
            </a:r>
            <a:endParaRPr lang="en-GB" sz="1050" dirty="0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7410C9A0-DAEF-D2C7-A848-466F75D9E920}"/>
              </a:ext>
            </a:extLst>
          </p:cNvPr>
          <p:cNvSpPr/>
          <p:nvPr/>
        </p:nvSpPr>
        <p:spPr>
          <a:xfrm>
            <a:off x="3776331" y="2976144"/>
            <a:ext cx="1077433" cy="481121"/>
          </a:xfrm>
          <a:prstGeom prst="rect">
            <a:avLst/>
          </a:prstGeom>
          <a:solidFill>
            <a:schemeClr val="tx2">
              <a:lumMod val="75000"/>
            </a:schemeClr>
          </a:solidFill>
          <a:ln>
            <a:solidFill>
              <a:schemeClr val="accent1"/>
            </a:solidFill>
          </a:ln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ASSISTANT</a:t>
            </a:r>
          </a:p>
          <a:p>
            <a:pPr algn="ctr"/>
            <a:r>
              <a:rPr lang="en-US" sz="1200" dirty="0"/>
              <a:t>MESSAGES</a:t>
            </a:r>
            <a:endParaRPr lang="en-GB" sz="1200" dirty="0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BCB0464A-BAA5-6EC7-C147-95AC12F0CA08}"/>
              </a:ext>
            </a:extLst>
          </p:cNvPr>
          <p:cNvSpPr/>
          <p:nvPr/>
        </p:nvSpPr>
        <p:spPr>
          <a:xfrm>
            <a:off x="3776330" y="3690076"/>
            <a:ext cx="1077433" cy="481121"/>
          </a:xfrm>
          <a:prstGeom prst="rect">
            <a:avLst/>
          </a:prstGeom>
          <a:solidFill>
            <a:schemeClr val="tx2">
              <a:lumMod val="75000"/>
            </a:schemeClr>
          </a:solidFill>
          <a:ln>
            <a:solidFill>
              <a:schemeClr val="accent1"/>
            </a:solidFill>
          </a:ln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50" dirty="0"/>
              <a:t>TOOL</a:t>
            </a:r>
          </a:p>
          <a:p>
            <a:pPr algn="ctr"/>
            <a:r>
              <a:rPr lang="en-US" sz="1050" dirty="0"/>
              <a:t>CALL/RESPONSE</a:t>
            </a:r>
            <a:endParaRPr lang="en-GB" sz="1050" dirty="0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83EC2549-7717-AF42-FA70-01E63F967D4E}"/>
              </a:ext>
            </a:extLst>
          </p:cNvPr>
          <p:cNvSpPr/>
          <p:nvPr/>
        </p:nvSpPr>
        <p:spPr>
          <a:xfrm>
            <a:off x="2198811" y="3644663"/>
            <a:ext cx="1077433" cy="481121"/>
          </a:xfrm>
          <a:prstGeom prst="rect">
            <a:avLst/>
          </a:prstGeom>
          <a:solidFill>
            <a:schemeClr val="tx2">
              <a:lumMod val="75000"/>
            </a:schemeClr>
          </a:solidFill>
          <a:ln>
            <a:solidFill>
              <a:schemeClr val="accent1"/>
            </a:solidFill>
          </a:ln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USER MESSAGE</a:t>
            </a:r>
            <a:endParaRPr lang="en-GB" sz="1200" dirty="0"/>
          </a:p>
        </p:txBody>
      </p: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2BF417D8-F98B-8A5A-DC08-63F984590C7B}"/>
              </a:ext>
            </a:extLst>
          </p:cNvPr>
          <p:cNvCxnSpPr>
            <a:cxnSpLocks/>
          </p:cNvCxnSpPr>
          <p:nvPr/>
        </p:nvCxnSpPr>
        <p:spPr>
          <a:xfrm>
            <a:off x="1613630" y="1436278"/>
            <a:ext cx="661737" cy="0"/>
          </a:xfrm>
          <a:prstGeom prst="straightConnector1">
            <a:avLst/>
          </a:prstGeom>
          <a:ln>
            <a:solidFill>
              <a:schemeClr val="accent1">
                <a:lumMod val="40000"/>
                <a:lumOff val="6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AC4612AD-351A-3F28-493A-C90DE72961AB}"/>
              </a:ext>
            </a:extLst>
          </p:cNvPr>
          <p:cNvCxnSpPr>
            <a:cxnSpLocks/>
          </p:cNvCxnSpPr>
          <p:nvPr/>
        </p:nvCxnSpPr>
        <p:spPr>
          <a:xfrm>
            <a:off x="1645564" y="2132183"/>
            <a:ext cx="629803" cy="0"/>
          </a:xfrm>
          <a:prstGeom prst="straightConnector1">
            <a:avLst/>
          </a:prstGeom>
          <a:ln>
            <a:solidFill>
              <a:schemeClr val="accent1">
                <a:lumMod val="40000"/>
                <a:lumOff val="6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05532094-97BF-0600-A3CE-EC0C72BB8977}"/>
              </a:ext>
            </a:extLst>
          </p:cNvPr>
          <p:cNvCxnSpPr>
            <a:cxnSpLocks/>
          </p:cNvCxnSpPr>
          <p:nvPr/>
        </p:nvCxnSpPr>
        <p:spPr>
          <a:xfrm>
            <a:off x="3361206" y="1422847"/>
            <a:ext cx="751675" cy="0"/>
          </a:xfrm>
          <a:prstGeom prst="straightConnector1">
            <a:avLst/>
          </a:prstGeom>
          <a:ln>
            <a:solidFill>
              <a:schemeClr val="accent1">
                <a:lumMod val="40000"/>
                <a:lumOff val="6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BDE86C0C-64A3-8E9D-2157-F46FEA6565C4}"/>
              </a:ext>
            </a:extLst>
          </p:cNvPr>
          <p:cNvCxnSpPr>
            <a:cxnSpLocks/>
          </p:cNvCxnSpPr>
          <p:nvPr/>
        </p:nvCxnSpPr>
        <p:spPr>
          <a:xfrm flipV="1">
            <a:off x="3361206" y="2132183"/>
            <a:ext cx="744734" cy="5173"/>
          </a:xfrm>
          <a:prstGeom prst="straightConnector1">
            <a:avLst/>
          </a:prstGeom>
          <a:ln>
            <a:solidFill>
              <a:schemeClr val="accent1">
                <a:lumMod val="40000"/>
                <a:lumOff val="6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TextBox 29">
            <a:extLst>
              <a:ext uri="{FF2B5EF4-FFF2-40B4-BE49-F238E27FC236}">
                <a16:creationId xmlns:a16="http://schemas.microsoft.com/office/drawing/2014/main" id="{47DF331E-C92F-C558-861A-75DB88D5D81C}"/>
              </a:ext>
            </a:extLst>
          </p:cNvPr>
          <p:cNvSpPr txBox="1"/>
          <p:nvPr/>
        </p:nvSpPr>
        <p:spPr>
          <a:xfrm>
            <a:off x="776427" y="1289051"/>
            <a:ext cx="82195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Tokens</a:t>
            </a:r>
            <a:endParaRPr lang="en-GB" dirty="0">
              <a:solidFill>
                <a:schemeClr val="bg1"/>
              </a:solidFill>
            </a:endParaRP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671B8A76-35EA-FDA5-EBF3-C272F15295CD}"/>
              </a:ext>
            </a:extLst>
          </p:cNvPr>
          <p:cNvSpPr txBox="1"/>
          <p:nvPr/>
        </p:nvSpPr>
        <p:spPr>
          <a:xfrm>
            <a:off x="4199811" y="1216210"/>
            <a:ext cx="68230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solidFill>
                  <a:schemeClr val="bg1"/>
                </a:solidFill>
              </a:rPr>
              <a:t>Likely </a:t>
            </a:r>
          </a:p>
          <a:p>
            <a:r>
              <a:rPr lang="en-US" sz="1400" dirty="0">
                <a:solidFill>
                  <a:schemeClr val="bg1"/>
                </a:solidFill>
              </a:rPr>
              <a:t>Tokens</a:t>
            </a:r>
            <a:endParaRPr lang="en-GB" sz="1400" dirty="0">
              <a:solidFill>
                <a:schemeClr val="bg1"/>
              </a:solidFill>
            </a:endParaRPr>
          </a:p>
        </p:txBody>
      </p: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133301E8-294F-998C-D19A-81BA4D4B27EC}"/>
              </a:ext>
            </a:extLst>
          </p:cNvPr>
          <p:cNvCxnSpPr>
            <a:cxnSpLocks/>
            <a:stCxn id="13" idx="0"/>
            <a:endCxn id="12" idx="2"/>
          </p:cNvCxnSpPr>
          <p:nvPr/>
        </p:nvCxnSpPr>
        <p:spPr>
          <a:xfrm flipV="1">
            <a:off x="2822489" y="1694456"/>
            <a:ext cx="1" cy="217085"/>
          </a:xfrm>
          <a:prstGeom prst="straightConnector1">
            <a:avLst/>
          </a:prstGeom>
          <a:ln>
            <a:solidFill>
              <a:schemeClr val="accent1">
                <a:lumMod val="40000"/>
                <a:lumOff val="6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TextBox 34">
            <a:extLst>
              <a:ext uri="{FF2B5EF4-FFF2-40B4-BE49-F238E27FC236}">
                <a16:creationId xmlns:a16="http://schemas.microsoft.com/office/drawing/2014/main" id="{D585E1E7-18E0-6FA7-5043-9EB67DF864E1}"/>
              </a:ext>
            </a:extLst>
          </p:cNvPr>
          <p:cNvSpPr txBox="1"/>
          <p:nvPr/>
        </p:nvSpPr>
        <p:spPr>
          <a:xfrm>
            <a:off x="4160679" y="1963120"/>
            <a:ext cx="6626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Tools</a:t>
            </a:r>
            <a:endParaRPr lang="en-GB" dirty="0">
              <a:solidFill>
                <a:schemeClr val="bg1"/>
              </a:solidFill>
            </a:endParaRP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C43E33C9-F1E9-BA4B-B75E-109C136915D4}"/>
              </a:ext>
            </a:extLst>
          </p:cNvPr>
          <p:cNvSpPr txBox="1"/>
          <p:nvPr/>
        </p:nvSpPr>
        <p:spPr>
          <a:xfrm>
            <a:off x="928827" y="1950077"/>
            <a:ext cx="68480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Input</a:t>
            </a:r>
            <a:endParaRPr lang="en-GB" dirty="0">
              <a:solidFill>
                <a:schemeClr val="bg1"/>
              </a:solidFill>
            </a:endParaRPr>
          </a:p>
        </p:txBody>
      </p:sp>
      <p:sp>
        <p:nvSpPr>
          <p:cNvPr id="49" name="Shape 5">
            <a:extLst>
              <a:ext uri="{FF2B5EF4-FFF2-40B4-BE49-F238E27FC236}">
                <a16:creationId xmlns:a16="http://schemas.microsoft.com/office/drawing/2014/main" id="{5775592D-7245-3BEB-2D4D-4CC0E4A64BE6}"/>
              </a:ext>
            </a:extLst>
          </p:cNvPr>
          <p:cNvSpPr/>
          <p:nvPr/>
        </p:nvSpPr>
        <p:spPr>
          <a:xfrm>
            <a:off x="5724779" y="954985"/>
            <a:ext cx="3150776" cy="3744831"/>
          </a:xfrm>
          <a:prstGeom prst="rect">
            <a:avLst/>
          </a:prstGeom>
          <a:solidFill>
            <a:srgbClr val="16263A"/>
          </a:solidFill>
          <a:ln w="12700">
            <a:solidFill>
              <a:srgbClr val="00C9FF"/>
            </a:solidFill>
            <a:prstDash val="dash"/>
          </a:ln>
        </p:spPr>
        <p:txBody>
          <a:bodyPr/>
          <a:lstStyle/>
          <a:p>
            <a:endParaRPr lang="en-GB" dirty="0">
              <a:solidFill>
                <a:schemeClr val="bg1"/>
              </a:solidFill>
            </a:endParaRP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4C4BA6CF-DD96-2515-7BCA-DD1AD9452C98}"/>
              </a:ext>
            </a:extLst>
          </p:cNvPr>
          <p:cNvSpPr txBox="1"/>
          <p:nvPr/>
        </p:nvSpPr>
        <p:spPr>
          <a:xfrm>
            <a:off x="6427278" y="1104385"/>
            <a:ext cx="160300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System Prompt</a:t>
            </a:r>
            <a:endParaRPr lang="en-GB" dirty="0">
              <a:solidFill>
                <a:schemeClr val="bg1"/>
              </a:solidFill>
            </a:endParaRPr>
          </a:p>
        </p:txBody>
      </p:sp>
      <p:sp>
        <p:nvSpPr>
          <p:cNvPr id="53" name="Arrow: Right 52">
            <a:extLst>
              <a:ext uri="{FF2B5EF4-FFF2-40B4-BE49-F238E27FC236}">
                <a16:creationId xmlns:a16="http://schemas.microsoft.com/office/drawing/2014/main" id="{C5FDCB61-C2DE-C05B-F564-3F0EE4A40A67}"/>
              </a:ext>
            </a:extLst>
          </p:cNvPr>
          <p:cNvSpPr/>
          <p:nvPr/>
        </p:nvSpPr>
        <p:spPr>
          <a:xfrm>
            <a:off x="6358270" y="1551383"/>
            <a:ext cx="1786270" cy="301867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9C393937-6A2B-D42B-4330-C9A70D0F1426}"/>
              </a:ext>
            </a:extLst>
          </p:cNvPr>
          <p:cNvSpPr txBox="1"/>
          <p:nvPr/>
        </p:nvSpPr>
        <p:spPr>
          <a:xfrm>
            <a:off x="5928504" y="1911541"/>
            <a:ext cx="859531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dirty="0">
                <a:solidFill>
                  <a:schemeClr val="bg1"/>
                </a:solidFill>
              </a:rPr>
              <a:t>Prescriptive</a:t>
            </a:r>
            <a:endParaRPr lang="en-GB" sz="1100" dirty="0">
              <a:solidFill>
                <a:schemeClr val="bg1"/>
              </a:solidFill>
            </a:endParaRP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0AD3C3B7-54B6-9EE5-77E3-6776DCFFC319}"/>
              </a:ext>
            </a:extLst>
          </p:cNvPr>
          <p:cNvSpPr txBox="1"/>
          <p:nvPr/>
        </p:nvSpPr>
        <p:spPr>
          <a:xfrm>
            <a:off x="7584883" y="1898522"/>
            <a:ext cx="790601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dirty="0">
                <a:solidFill>
                  <a:schemeClr val="bg1"/>
                </a:solidFill>
              </a:rPr>
              <a:t>Too Vague</a:t>
            </a:r>
            <a:endParaRPr lang="en-GB" sz="1100" dirty="0">
              <a:solidFill>
                <a:schemeClr val="bg1"/>
              </a:solidFill>
            </a:endParaRPr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F98E7650-189E-E23E-EB0F-55645ECFA9EE}"/>
              </a:ext>
            </a:extLst>
          </p:cNvPr>
          <p:cNvSpPr/>
          <p:nvPr/>
        </p:nvSpPr>
        <p:spPr>
          <a:xfrm>
            <a:off x="6011292" y="2308811"/>
            <a:ext cx="2611214" cy="2171039"/>
          </a:xfrm>
          <a:prstGeom prst="rect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1450" indent="-171450">
              <a:buFont typeface="Wingdings" panose="05000000000000000000" pitchFamily="2" charset="2"/>
              <a:buChar char="§"/>
            </a:pPr>
            <a:r>
              <a:rPr lang="en-US" sz="1200" dirty="0"/>
              <a:t>   Tools</a:t>
            </a:r>
          </a:p>
          <a:p>
            <a:pPr marL="742950" lvl="1" indent="-285750">
              <a:buFont typeface="Wingdings" panose="05000000000000000000" pitchFamily="2" charset="2"/>
              <a:buChar char="§"/>
            </a:pPr>
            <a:r>
              <a:rPr lang="en-US" sz="1200" dirty="0"/>
              <a:t>Specific / Schema</a:t>
            </a: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en-US" sz="1200" dirty="0"/>
              <a:t>Data Retrieval</a:t>
            </a:r>
          </a:p>
          <a:p>
            <a:pPr marL="742950" lvl="1" indent="-285750">
              <a:buFont typeface="Wingdings" panose="05000000000000000000" pitchFamily="2" charset="2"/>
              <a:buChar char="§"/>
            </a:pPr>
            <a:r>
              <a:rPr lang="en-US" sz="1200" dirty="0"/>
              <a:t>MCP</a:t>
            </a: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en-US" sz="1200" dirty="0"/>
              <a:t>Long Horizon</a:t>
            </a:r>
          </a:p>
          <a:p>
            <a:pPr marL="742950" lvl="1" indent="-285750">
              <a:buFont typeface="Wingdings" panose="05000000000000000000" pitchFamily="2" charset="2"/>
              <a:buChar char="§"/>
            </a:pPr>
            <a:r>
              <a:rPr lang="en-US" sz="1200" dirty="0"/>
              <a:t>Compaction</a:t>
            </a:r>
          </a:p>
          <a:p>
            <a:pPr marL="742950" lvl="1" indent="-285750">
              <a:buFont typeface="Wingdings" panose="05000000000000000000" pitchFamily="2" charset="2"/>
              <a:buChar char="§"/>
            </a:pPr>
            <a:r>
              <a:rPr lang="en-US" sz="1200" dirty="0"/>
              <a:t>Memory</a:t>
            </a:r>
          </a:p>
          <a:p>
            <a:pPr marL="742950" lvl="1" indent="-285750">
              <a:buFont typeface="Wingdings" panose="05000000000000000000" pitchFamily="2" charset="2"/>
              <a:buChar char="§"/>
            </a:pPr>
            <a:r>
              <a:rPr lang="en-US" sz="1200" dirty="0"/>
              <a:t>Additional Agents</a:t>
            </a:r>
          </a:p>
          <a:p>
            <a:pPr marL="285750" indent="-285750" algn="ctr">
              <a:buFontTx/>
              <a:buChar char="-"/>
            </a:pPr>
            <a:endParaRPr lang="en-GB" dirty="0"/>
          </a:p>
        </p:txBody>
      </p:sp>
      <p:sp>
        <p:nvSpPr>
          <p:cNvPr id="58" name="Arrow: Curved Down 57">
            <a:extLst>
              <a:ext uri="{FF2B5EF4-FFF2-40B4-BE49-F238E27FC236}">
                <a16:creationId xmlns:a16="http://schemas.microsoft.com/office/drawing/2014/main" id="{DCECB89A-7380-FDE6-64B5-ADD7AB5D1561}"/>
              </a:ext>
            </a:extLst>
          </p:cNvPr>
          <p:cNvSpPr/>
          <p:nvPr/>
        </p:nvSpPr>
        <p:spPr>
          <a:xfrm rot="3344083">
            <a:off x="3292865" y="1793854"/>
            <a:ext cx="249254" cy="217085"/>
          </a:xfrm>
          <a:prstGeom prst="curvedDownArrow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320040" cy="5143500"/>
          </a:xfrm>
          <a:prstGeom prst="rect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" name="Shape 2"/>
          <p:cNvSpPr/>
          <p:nvPr/>
        </p:nvSpPr>
        <p:spPr>
          <a:xfrm>
            <a:off x="548640" y="182880"/>
            <a:ext cx="502920" cy="502920"/>
          </a:xfrm>
          <a:prstGeom prst="ellips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" name="Text 3"/>
          <p:cNvSpPr/>
          <p:nvPr/>
        </p:nvSpPr>
        <p:spPr>
          <a:xfrm>
            <a:off x="548640" y="201168"/>
            <a:ext cx="502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188720" y="182880"/>
            <a:ext cx="7315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OpenClaw Overview</a:t>
            </a:r>
            <a:endParaRPr lang="en-US" sz="2600" dirty="0"/>
          </a:p>
        </p:txBody>
      </p:sp>
      <p:sp>
        <p:nvSpPr>
          <p:cNvPr id="7" name="Shape 5"/>
          <p:cNvSpPr/>
          <p:nvPr/>
        </p:nvSpPr>
        <p:spPr>
          <a:xfrm>
            <a:off x="457200" y="841248"/>
            <a:ext cx="8321040" cy="960120"/>
          </a:xfrm>
          <a:prstGeom prst="rect">
            <a:avLst/>
          </a:prstGeom>
          <a:solidFill>
            <a:srgbClr val="16263A"/>
          </a:solidFill>
          <a:ln w="12700">
            <a:solidFill>
              <a:srgbClr val="FFD16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8" name="Shape 6"/>
          <p:cNvSpPr/>
          <p:nvPr/>
        </p:nvSpPr>
        <p:spPr>
          <a:xfrm>
            <a:off x="457200" y="841248"/>
            <a:ext cx="73152" cy="960120"/>
          </a:xfrm>
          <a:prstGeom prst="rect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9" name="Text 7"/>
          <p:cNvSpPr/>
          <p:nvPr/>
        </p:nvSpPr>
        <p:spPr>
          <a:xfrm>
            <a:off x="658368" y="868680"/>
            <a:ext cx="800100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i="1" dirty="0">
                <a:solidFill>
                  <a:srgbClr val="7A9A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 Add your OpenClaw description here — e.g. OpenClaw is an open-source autonomous AI agent framework that enables complex multi-step task execution using tool calling, memory, and planning. ]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1920240"/>
            <a:ext cx="8321040" cy="2743200"/>
          </a:xfrm>
          <a:prstGeom prst="rect">
            <a:avLst/>
          </a:prstGeom>
          <a:solidFill>
            <a:srgbClr val="16263A"/>
          </a:solidFill>
          <a:ln w="12700">
            <a:solidFill>
              <a:srgbClr val="FFD166"/>
            </a:solidFill>
            <a:prstDash val="dash"/>
          </a:ln>
        </p:spPr>
        <p:txBody>
          <a:bodyPr/>
          <a:lstStyle/>
          <a:p>
            <a:endParaRPr lang="en-GB"/>
          </a:p>
        </p:txBody>
      </p:sp>
      <p:sp>
        <p:nvSpPr>
          <p:cNvPr id="11" name="Text 9"/>
          <p:cNvSpPr/>
          <p:nvPr/>
        </p:nvSpPr>
        <p:spPr>
          <a:xfrm>
            <a:off x="457200" y="1920240"/>
            <a:ext cx="832104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i="1" dirty="0">
                <a:solidFill>
                  <a:srgbClr val="7A9A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 OpenClaw Architecture / Component Diagram ]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731520" y="4114800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i="1" dirty="0">
                <a:solidFill>
                  <a:srgbClr val="7A9A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Insert diagram showing OpenClaw components: Agent Core, Tool Registry, Memory Module, Planner, Executor, etc.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0" y="4983480"/>
            <a:ext cx="9144000" cy="160020"/>
          </a:xfrm>
          <a:prstGeom prst="rect">
            <a:avLst/>
          </a:prstGeom>
          <a:solidFill>
            <a:srgbClr val="1B2A3B"/>
          </a:solidFill>
          <a:ln w="12700">
            <a:solidFill>
              <a:srgbClr val="1B2A3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4" name="Text 12"/>
          <p:cNvSpPr/>
          <p:nvPr/>
        </p:nvSpPr>
        <p:spPr>
          <a:xfrm>
            <a:off x="365760" y="5001768"/>
            <a:ext cx="822960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7A9A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 Journey into AI  |  Slide 5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320040" cy="5143500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" name="Shape 2"/>
          <p:cNvSpPr/>
          <p:nvPr/>
        </p:nvSpPr>
        <p:spPr>
          <a:xfrm>
            <a:off x="548640" y="182880"/>
            <a:ext cx="502920" cy="502920"/>
          </a:xfrm>
          <a:prstGeom prst="ellipse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" name="Text 3"/>
          <p:cNvSpPr/>
          <p:nvPr/>
        </p:nvSpPr>
        <p:spPr>
          <a:xfrm>
            <a:off x="548640" y="201168"/>
            <a:ext cx="502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188720" y="182880"/>
            <a:ext cx="7315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Setting Up OpenClaw</a:t>
            </a:r>
            <a:endParaRPr lang="en-US" sz="2600" dirty="0"/>
          </a:p>
        </p:txBody>
      </p:sp>
      <p:sp>
        <p:nvSpPr>
          <p:cNvPr id="7" name="Shape 5"/>
          <p:cNvSpPr/>
          <p:nvPr/>
        </p:nvSpPr>
        <p:spPr>
          <a:xfrm>
            <a:off x="457200" y="841248"/>
            <a:ext cx="8321040" cy="694944"/>
          </a:xfrm>
          <a:prstGeom prst="rect">
            <a:avLst/>
          </a:prstGeom>
          <a:solidFill>
            <a:srgbClr val="16263A"/>
          </a:solidFill>
          <a:ln w="12700">
            <a:solidFill>
              <a:srgbClr val="02C39A">
                <a:alpha val="40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8" name="Shape 6"/>
          <p:cNvSpPr/>
          <p:nvPr/>
        </p:nvSpPr>
        <p:spPr>
          <a:xfrm>
            <a:off x="457200" y="841248"/>
            <a:ext cx="658368" cy="694944"/>
          </a:xfrm>
          <a:prstGeom prst="rect">
            <a:avLst/>
          </a:prstGeom>
          <a:solidFill>
            <a:srgbClr val="02C39A">
              <a:alpha val="80000"/>
            </a:srgbClr>
          </a:solidFill>
          <a:ln w="12700">
            <a:solidFill>
              <a:srgbClr val="02C39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9" name="Text 7"/>
          <p:cNvSpPr/>
          <p:nvPr/>
        </p:nvSpPr>
        <p:spPr>
          <a:xfrm>
            <a:off x="457200" y="841248"/>
            <a:ext cx="658368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1234440" y="896112"/>
            <a:ext cx="7406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Provision Azure VM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1234440" y="1170432"/>
            <a:ext cx="7406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dirty="0">
                <a:solidFill>
                  <a:srgbClr val="D0E8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 an Azure Virtual Machine (Ubuntu 22.04 LTS recommended). Minimum: 4 vCPU, 16GB RAM. Open ports 22 (SSH) and 8080 (web UI).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457200" y="1645920"/>
            <a:ext cx="8321040" cy="694944"/>
          </a:xfrm>
          <a:prstGeom prst="rect">
            <a:avLst/>
          </a:prstGeom>
          <a:solidFill>
            <a:srgbClr val="16263A"/>
          </a:solidFill>
          <a:ln w="12700">
            <a:solidFill>
              <a:srgbClr val="02C39A">
                <a:alpha val="40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13" name="Shape 11"/>
          <p:cNvSpPr/>
          <p:nvPr/>
        </p:nvSpPr>
        <p:spPr>
          <a:xfrm>
            <a:off x="457200" y="1645920"/>
            <a:ext cx="658368" cy="694944"/>
          </a:xfrm>
          <a:prstGeom prst="rect">
            <a:avLst/>
          </a:prstGeom>
          <a:solidFill>
            <a:srgbClr val="02C39A">
              <a:alpha val="80000"/>
            </a:srgbClr>
          </a:solidFill>
          <a:ln w="12700">
            <a:solidFill>
              <a:srgbClr val="02C39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4" name="Text 12"/>
          <p:cNvSpPr/>
          <p:nvPr/>
        </p:nvSpPr>
        <p:spPr>
          <a:xfrm>
            <a:off x="457200" y="1645920"/>
            <a:ext cx="658368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1234440" y="1700784"/>
            <a:ext cx="7406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Install Prerequisites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1234440" y="1975104"/>
            <a:ext cx="7406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dirty="0">
                <a:solidFill>
                  <a:srgbClr val="D0E8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Install Docker, Node.js 18+, and Git. Run: sudo apt-get update &amp;&amp; sudo apt-get install -y docker.io nodejs npm git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457200" y="2450592"/>
            <a:ext cx="8321040" cy="694944"/>
          </a:xfrm>
          <a:prstGeom prst="rect">
            <a:avLst/>
          </a:prstGeom>
          <a:solidFill>
            <a:srgbClr val="16263A"/>
          </a:solidFill>
          <a:ln w="12700">
            <a:solidFill>
              <a:srgbClr val="02C39A">
                <a:alpha val="40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18" name="Shape 16"/>
          <p:cNvSpPr/>
          <p:nvPr/>
        </p:nvSpPr>
        <p:spPr>
          <a:xfrm>
            <a:off x="457200" y="2450592"/>
            <a:ext cx="658368" cy="694944"/>
          </a:xfrm>
          <a:prstGeom prst="rect">
            <a:avLst/>
          </a:prstGeom>
          <a:solidFill>
            <a:srgbClr val="02C39A">
              <a:alpha val="80000"/>
            </a:srgbClr>
          </a:solidFill>
          <a:ln w="12700">
            <a:solidFill>
              <a:srgbClr val="02C39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9" name="Text 17"/>
          <p:cNvSpPr/>
          <p:nvPr/>
        </p:nvSpPr>
        <p:spPr>
          <a:xfrm>
            <a:off x="457200" y="2450592"/>
            <a:ext cx="658368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1234440" y="2505456"/>
            <a:ext cx="7406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Clone OpenClaw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1234440" y="2779776"/>
            <a:ext cx="7406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dirty="0">
                <a:solidFill>
                  <a:srgbClr val="D0E8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Run: git clone https://github.com/openclaw/openclaw.git &amp;&amp; cd openclaw &amp;&amp; npm install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457200" y="3255264"/>
            <a:ext cx="8321040" cy="694944"/>
          </a:xfrm>
          <a:prstGeom prst="rect">
            <a:avLst/>
          </a:prstGeom>
          <a:solidFill>
            <a:srgbClr val="16263A"/>
          </a:solidFill>
          <a:ln w="12700">
            <a:solidFill>
              <a:srgbClr val="02C39A">
                <a:alpha val="40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23" name="Shape 21"/>
          <p:cNvSpPr/>
          <p:nvPr/>
        </p:nvSpPr>
        <p:spPr>
          <a:xfrm>
            <a:off x="457200" y="3255264"/>
            <a:ext cx="658368" cy="694944"/>
          </a:xfrm>
          <a:prstGeom prst="rect">
            <a:avLst/>
          </a:prstGeom>
          <a:solidFill>
            <a:srgbClr val="02C39A">
              <a:alpha val="80000"/>
            </a:srgbClr>
          </a:solidFill>
          <a:ln w="12700">
            <a:solidFill>
              <a:srgbClr val="02C39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4" name="Text 22"/>
          <p:cNvSpPr/>
          <p:nvPr/>
        </p:nvSpPr>
        <p:spPr>
          <a:xfrm>
            <a:off x="457200" y="3255264"/>
            <a:ext cx="658368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1234440" y="3310128"/>
            <a:ext cx="7406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Configure API Keys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1234440" y="3584448"/>
            <a:ext cx="7406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dirty="0">
                <a:solidFill>
                  <a:srgbClr val="D0E8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 .env.example to .env. Add your model provider API keys (Anthropic, OpenAI, etc.) and configure tool permissions.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457200" y="4059936"/>
            <a:ext cx="8321040" cy="694944"/>
          </a:xfrm>
          <a:prstGeom prst="rect">
            <a:avLst/>
          </a:prstGeom>
          <a:solidFill>
            <a:srgbClr val="16263A"/>
          </a:solidFill>
          <a:ln w="12700">
            <a:solidFill>
              <a:srgbClr val="02C39A">
                <a:alpha val="40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28" name="Shape 26"/>
          <p:cNvSpPr/>
          <p:nvPr/>
        </p:nvSpPr>
        <p:spPr>
          <a:xfrm>
            <a:off x="457200" y="4059936"/>
            <a:ext cx="658368" cy="694944"/>
          </a:xfrm>
          <a:prstGeom prst="rect">
            <a:avLst/>
          </a:prstGeom>
          <a:solidFill>
            <a:srgbClr val="02C39A">
              <a:alpha val="80000"/>
            </a:srgbClr>
          </a:solidFill>
          <a:ln w="12700">
            <a:solidFill>
              <a:srgbClr val="02C39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9" name="Text 27"/>
          <p:cNvSpPr/>
          <p:nvPr/>
        </p:nvSpPr>
        <p:spPr>
          <a:xfrm>
            <a:off x="457200" y="4059936"/>
            <a:ext cx="658368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600" dirty="0"/>
          </a:p>
        </p:txBody>
      </p:sp>
      <p:sp>
        <p:nvSpPr>
          <p:cNvPr id="30" name="Text 28"/>
          <p:cNvSpPr/>
          <p:nvPr/>
        </p:nvSpPr>
        <p:spPr>
          <a:xfrm>
            <a:off x="1234440" y="4114800"/>
            <a:ext cx="7406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Launch &amp; Access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1234440" y="4389120"/>
            <a:ext cx="7406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dirty="0">
                <a:solidFill>
                  <a:srgbClr val="D0E8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Run: npm start — then navigate to http://[your-vm-ip]:8080 in your browser to access the OpenClaw dashboard.</a:t>
            </a:r>
            <a:endParaRPr lang="en-US" sz="950" dirty="0"/>
          </a:p>
        </p:txBody>
      </p:sp>
      <p:sp>
        <p:nvSpPr>
          <p:cNvPr id="32" name="Shape 30"/>
          <p:cNvSpPr/>
          <p:nvPr/>
        </p:nvSpPr>
        <p:spPr>
          <a:xfrm>
            <a:off x="0" y="4983480"/>
            <a:ext cx="9144000" cy="160020"/>
          </a:xfrm>
          <a:prstGeom prst="rect">
            <a:avLst/>
          </a:prstGeom>
          <a:solidFill>
            <a:srgbClr val="1B2A3B"/>
          </a:solidFill>
          <a:ln w="12700">
            <a:solidFill>
              <a:srgbClr val="1B2A3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3" name="Text 31"/>
          <p:cNvSpPr/>
          <p:nvPr/>
        </p:nvSpPr>
        <p:spPr>
          <a:xfrm>
            <a:off x="365760" y="5001768"/>
            <a:ext cx="822960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7A9A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 Journey into AI  |  Slide 6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7B61FF"/>
          </a:solidFill>
          <a:ln w="12700">
            <a:solidFill>
              <a:srgbClr val="7B61FF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320040" cy="5143500"/>
          </a:xfrm>
          <a:prstGeom prst="rect">
            <a:avLst/>
          </a:prstGeom>
          <a:solidFill>
            <a:srgbClr val="7B61FF"/>
          </a:solidFill>
          <a:ln w="12700">
            <a:solidFill>
              <a:srgbClr val="7B61FF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" name="Shape 2"/>
          <p:cNvSpPr/>
          <p:nvPr/>
        </p:nvSpPr>
        <p:spPr>
          <a:xfrm>
            <a:off x="548640" y="182880"/>
            <a:ext cx="502920" cy="502920"/>
          </a:xfrm>
          <a:prstGeom prst="ellipse">
            <a:avLst/>
          </a:prstGeom>
          <a:solidFill>
            <a:srgbClr val="7B61FF"/>
          </a:solidFill>
          <a:ln w="12700">
            <a:solidFill>
              <a:srgbClr val="7B61FF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" name="Text 3"/>
          <p:cNvSpPr/>
          <p:nvPr/>
        </p:nvSpPr>
        <p:spPr>
          <a:xfrm>
            <a:off x="548640" y="201168"/>
            <a:ext cx="502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188720" y="182880"/>
            <a:ext cx="7589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Model Licensing &amp; Access</a:t>
            </a:r>
            <a:endParaRPr lang="en-US" sz="24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822960"/>
          <a:ext cx="7452360" cy="3621024"/>
        </p:xfrm>
        <a:graphic>
          <a:graphicData uri="http://schemas.openxmlformats.org/drawingml/2006/table">
            <a:tbl>
              <a:tblPr/>
              <a:tblGrid>
                <a:gridCol w="20116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459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6060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017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Provider / Model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E3B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B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B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B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B61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Licence Type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E3B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B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B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B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B61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Where to Get Access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E3B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B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B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B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B61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API Key?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E3B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B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B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B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B61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017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00C9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Anthropic (Claude)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E3B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B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B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B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6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D0E8F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Proprietary / SaaS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E3B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B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B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B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6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D0E8F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console.anthropic.com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E3B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B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B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B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6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02C39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✅ Paid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E3B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B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B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B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6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017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00C9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OpenAI (GPT series)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E3B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B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B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B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D2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D0E8F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Proprietary / SaaS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E3B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B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B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B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D2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D0E8F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platform.openai.com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E3B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B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B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B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D2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02C39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✅ Paid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E3B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B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B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B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D2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017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00C9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Google Gemini (closed)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E3B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B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B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B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6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D0E8F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Proprietary / SaaS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E3B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B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B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B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6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D0E8F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aistudio.google.com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E3B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B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B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B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6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02C39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✅ Free + Paid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E3B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B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B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B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6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017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FFD1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Google Gemma 4 (open)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E3B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B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B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B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D2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D0E8F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Apache 2.0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E3B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B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B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B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D2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D0E8F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Hugging Face / AI Studio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E3B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B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B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B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D2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02C39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✅ Self-host/API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E3B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B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B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B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D2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017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FFD1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Meta Llama 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E3B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B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B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B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6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D0E8F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Custom Meta Licence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E3B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B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B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B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6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D0E8F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llama.meta.com / Hugging Face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E3B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B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B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B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6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02C39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✅ Via 3rd party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E3B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B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B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B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6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017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FFD1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Mistral (open models)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E3B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B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B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B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D2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D0E8F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Apache 2.0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E3B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B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B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B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D2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D0E8F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mistral.ai / Hugging Face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E3B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B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B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B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D2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02C39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✅ Free / Self-host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E3B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B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B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B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D2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017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00C9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Mistral (commercial)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E3B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B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B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B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6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D0E8F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Proprietary / SaaS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E3B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B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B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B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6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D0E8F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console.mistral.ai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E3B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B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B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B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6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02C39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✅ Paid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E3B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B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B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B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6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017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FFD1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DeepSeek (V3, R1)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E3B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B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B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B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D2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D0E8F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E3B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B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B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B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D2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D0E8F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platform.deepseek.com / HF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E3B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B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B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B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D2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02C39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✅ Cheap + Self-host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E3B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B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B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B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D2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017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00C9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xAI Grok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E3B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B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B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B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6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D0E8F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Proprietary / SaaS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E3B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B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B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B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6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D0E8F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console.x.ai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E3B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B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B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B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6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02C39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✅ Paid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E3B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B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B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B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6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017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FF99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Amazon Bedrock (aggregator)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E3B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B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B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B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D2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D0E8F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SaaS / per-model terms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E3B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B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B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B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D2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D0E8F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aws.amazon.com/bedrock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E3B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B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B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B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D2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02C39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✅ AWS key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E3B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B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B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B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D2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3017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FFD1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Hugging Face (aggregator)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E3B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B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B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B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6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D0E8F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Varies per model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E3B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B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B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B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6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D0E8F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huggingface.co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E3B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B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B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B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6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02C39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✅ Free + Paid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E3B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B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B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B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6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0" y="4983480"/>
            <a:ext cx="9144000" cy="160020"/>
          </a:xfrm>
          <a:prstGeom prst="rect">
            <a:avLst/>
          </a:prstGeom>
          <a:solidFill>
            <a:srgbClr val="1B2A3B"/>
          </a:solidFill>
          <a:ln w="12700">
            <a:solidFill>
              <a:srgbClr val="1B2A3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7" name="Text 6"/>
          <p:cNvSpPr/>
          <p:nvPr/>
        </p:nvSpPr>
        <p:spPr>
          <a:xfrm>
            <a:off x="365760" y="5001768"/>
            <a:ext cx="841248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7A9A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 Journey into AI  |  Slide 7  |  Note: OpenAI key does NOT give access to Claude — separate accounts required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776</Words>
  <Application>Microsoft Office PowerPoint</Application>
  <PresentationFormat>On-screen Show (16:9)</PresentationFormat>
  <Paragraphs>176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3" baseType="lpstr">
      <vt:lpstr>Arial</vt:lpstr>
      <vt:lpstr>Arial Black</vt:lpstr>
      <vt:lpstr>Calibri</vt:lpstr>
      <vt:lpstr>Wingdings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My Journey into AI - Seeing is believing (or is it?)</dc:title>
  <dc:subject>PptxGenJS Presentation</dc:subject>
  <dc:creator>PptxGenJS</dc:creator>
  <cp:lastModifiedBy>Jean Hibbert</cp:lastModifiedBy>
  <cp:revision>4</cp:revision>
  <dcterms:created xsi:type="dcterms:W3CDTF">2026-04-12T09:52:37Z</dcterms:created>
  <dcterms:modified xsi:type="dcterms:W3CDTF">2026-04-12T11:58:11Z</dcterms:modified>
</cp:coreProperties>
</file>